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not a Developer Portal replacement discussion. The portal is already established. The decision is the sandbox runtime operating model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the comparison architecture-led. DAC is a mature Open Banking sandbox; the decision turns on ownership, scalability, change agility and strategic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portal direction now spans Open Banking, Treasury, Corporate and future enterprise APIs. That makes the runtime choice a platform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Both options can provide sandbox capability. The strategic consequences differ: vendor dependency versus HSBC ownership and self-service, with productisation and governance obligations.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figures and wording on this slide are reproduced from the supplied reference image. Validate the cost and cycle-time assumptions before using them for investment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API volume grows, onboarding and change throughput become the constraint. The owned model removes external handoffs but still needs operational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overstate licence savings. The durable architecture argument is the cost and lead time of the next API or scenario change across a growing portfolio.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SmartMock remains the execution engine. SmartSandbox productises lifecycle, isolation, scenarios and dynamic data into an enterprise operating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Approval should be conditional on clear ownership, security policy, operability and a governed self-service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Approve the HSBC-owned direction and stage the commitment through productisation, governance and controlled enterprise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297D52-1EF0-4A8A-A1B4-1CA22F8EA18E}"/>
              </a:ext>
            </a:extLst>
          </p:cNvPr>
          <p:cNvSpPr>
            <a:spLocks noGrp="1"/>
          </p:cNvSpPr>
          <p:nvPr/>
        </p:nvSpPr>
        <p:spPr>
          <a:xfrm>
            <a:off x="533400" y="4953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674C04-7497-4D3E-A7FA-B20D6B8AD0F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6000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9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SmartSandbox</a:t>
            </a:r>
          </a:p>
          <a:p>
            <a:pPr algn="l">
              <a:lnSpc>
                <a:spcPct val="96000"/>
              </a:lnSpc>
              <a:buNone/>
              <a:defRPr sz="39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Architecture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36837-7884-453F-BD06-5A676039EF98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590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Choosing the operating model behind HSBC Developer Portal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63F34BF-56D1-4161-8941-5E081955A881}"/>
              </a:ext>
            </a:extLst>
          </p:cNvPr>
          <p:cNvSpPr>
            <a:spLocks noGrp="1"/>
          </p:cNvSpPr>
          <p:nvPr/>
        </p:nvSpPr>
        <p:spPr>
          <a:xfrm>
            <a:off x="552450" y="3829050"/>
            <a:ext cx="409575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5394C-F28C-41CD-BC52-95DF68F5E673}"/>
              </a:ext>
            </a:extLst>
          </p:cNvPr>
          <p:cNvSpPr>
            <a:spLocks noGrp="1"/>
          </p:cNvSpPr>
          <p:nvPr/>
        </p:nvSpPr>
        <p:spPr>
          <a:xfrm>
            <a:off x="552450" y="4076700"/>
            <a:ext cx="5429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The portal is established. The remaining decision is who owns—and how HSBC scales—the sandbox runtime.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2C3088-0518-4DE4-884C-3044818D5995}"/>
              </a:ext>
            </a:extLst>
          </p:cNvPr>
          <p:cNvSpPr>
            <a:spLocks noGrp="1"/>
          </p:cNvSpPr>
          <p:nvPr/>
        </p:nvSpPr>
        <p:spPr>
          <a:xfrm>
            <a:off x="7067550" y="666750"/>
            <a:ext cx="4629150" cy="546735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50A075-425C-48EF-9077-DFE0BDDCE988}"/>
              </a:ext>
            </a:extLst>
          </p:cNvPr>
          <p:cNvSpPr>
            <a:spLocks noGrp="1"/>
          </p:cNvSpPr>
          <p:nvPr/>
        </p:nvSpPr>
        <p:spPr>
          <a:xfrm>
            <a:off x="7562850" y="11620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F0D0DD-0D69-447C-8082-27A08B00A706}"/>
              </a:ext>
            </a:extLst>
          </p:cNvPr>
          <p:cNvSpPr>
            <a:spLocks noGrp="1"/>
          </p:cNvSpPr>
          <p:nvPr/>
        </p:nvSpPr>
        <p:spPr>
          <a:xfrm>
            <a:off x="8477250" y="1200150"/>
            <a:ext cx="2686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Executive decision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D328B83-3E18-4BA5-B4EE-86DBB13ADC67}"/>
              </a:ext>
            </a:extLst>
          </p:cNvPr>
          <p:cNvSpPr>
            <a:spLocks noGrp="1"/>
          </p:cNvSpPr>
          <p:nvPr/>
        </p:nvSpPr>
        <p:spPr>
          <a:xfrm>
            <a:off x="7543800" y="2038350"/>
            <a:ext cx="363855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6280A3-5759-48BE-A0BD-CDCA9AA7099C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3638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887"/>
          </a:bodyPr>
          <a:lstStyle/>
          <a:p>
            <a:pPr algn="l">
              <a:lnSpc>
                <a:spcPct val="103000"/>
              </a:lnSpc>
              <a:buNone/>
              <a:defRPr sz="21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Approve the evolution toward an HSBC-owned enterprise API simulation capability.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950991-38AD-4121-B2BD-928115905575}"/>
              </a:ext>
            </a:extLst>
          </p:cNvPr>
          <p:cNvSpPr>
            <a:spLocks noGrp="1"/>
          </p:cNvSpPr>
          <p:nvPr/>
        </p:nvSpPr>
        <p:spPr>
          <a:xfrm>
            <a:off x="7543800" y="3905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Developer Portal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D7EEF5-AC19-4F6C-B5C8-1C078EA697D8}"/>
              </a:ext>
            </a:extLst>
          </p:cNvPr>
          <p:cNvSpPr>
            <a:spLocks noGrp="1"/>
          </p:cNvSpPr>
          <p:nvPr/>
        </p:nvSpPr>
        <p:spPr>
          <a:xfrm>
            <a:off x="9067800" y="39052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A5837-FD5A-434B-8E85-57E176250EEE}"/>
              </a:ext>
            </a:extLst>
          </p:cNvPr>
          <p:cNvSpPr>
            <a:spLocks noGrp="1"/>
          </p:cNvSpPr>
          <p:nvPr/>
        </p:nvSpPr>
        <p:spPr>
          <a:xfrm>
            <a:off x="9563100" y="39052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SmartMock Runtime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573B7-B41A-4A49-870B-610D9A841784}"/>
              </a:ext>
            </a:extLst>
          </p:cNvPr>
          <p:cNvSpPr>
            <a:spLocks noGrp="1"/>
          </p:cNvSpPr>
          <p:nvPr/>
        </p:nvSpPr>
        <p:spPr>
          <a:xfrm>
            <a:off x="7543800" y="4438650"/>
            <a:ext cx="36385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SmartMock executes. SmartSandbox productises the operating platform.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34204A-8B4A-4BF7-8D78-C612460EB683}"/>
              </a:ext>
            </a:extLst>
          </p:cNvPr>
          <p:cNvSpPr>
            <a:spLocks noGrp="1"/>
          </p:cNvSpPr>
          <p:nvPr/>
        </p:nvSpPr>
        <p:spPr>
          <a:xfrm>
            <a:off x="9658350" y="1009650"/>
            <a:ext cx="20383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DAC8B2-4774-4886-BF2E-37A7228780D5}"/>
              </a:ext>
            </a:extLst>
          </p:cNvPr>
          <p:cNvSpPr>
            <a:spLocks noGrp="1"/>
          </p:cNvSpPr>
          <p:nvPr/>
        </p:nvSpPr>
        <p:spPr>
          <a:xfrm>
            <a:off x="552450" y="63627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17 JUL 2026</a:t>
            </a:r>
          </a:p>
        </p:txBody>
      </p:sp>
    </p:spTree>
    <p:extLst>
      <p:ext uri="{BB962C8B-B14F-4D97-AF65-F5344CB8AC3E}">
        <p14:creationId xmlns:p14="http://schemas.microsoft.com/office/powerpoint/2010/main" val="158070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-2-title">
            <a:extLst>
              <a:ext uri="{FF2B5EF4-FFF2-40B4-BE49-F238E27FC236}">
                <a16:creationId xmlns:a16="http://schemas.microsoft.com/office/drawing/2014/main" id="{298D25E9-184A-4A25-A1B2-14CE03AB0C09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The Decision Is the Operating Model—not Feature Superiority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96D1D-D50D-4A11-BFCA-91277520B29D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DCC65F1-82CF-49DE-BB67-3B1B21E6DB99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BA06E47-715F-4866-8074-76155D525C1A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Architecture choice • not product ranking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FB0F6-09D0-4647-857D-5F938C780284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76995-9FDE-4EFC-BB31-4733086FB824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7FFAEB-DD2C-4B20-A13F-E3B7FAD4206A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Already established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2AE3B26-E4E4-40B6-9B54-5FBEFCAD9667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DP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E9B2FB-C73C-47BA-AD7A-945C5B886B51}"/>
              </a:ext>
            </a:extLst>
          </p:cNvPr>
          <p:cNvSpPr>
            <a:spLocks noGrp="1"/>
          </p:cNvSpPr>
          <p:nvPr/>
        </p:nvSpPr>
        <p:spPr>
          <a:xfrm>
            <a:off x="1714500" y="219075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HSBC Developer Portal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1719D4-B5B7-43B2-AE74-1D814FFA1F47}"/>
              </a:ext>
            </a:extLst>
          </p:cNvPr>
          <p:cNvSpPr>
            <a:spLocks noGrp="1"/>
          </p:cNvSpPr>
          <p:nvPr/>
        </p:nvSpPr>
        <p:spPr>
          <a:xfrm>
            <a:off x="1714500" y="2647950"/>
            <a:ext cx="3238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Catalogue, documentation, onboarding, credentials and API consumption experience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3511A3A-58D2-4490-98B6-ADCE12FE4785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41910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8ADA58-4462-43DB-B87C-D8361D20AF8C}"/>
              </a:ext>
            </a:extLst>
          </p:cNvPr>
          <p:cNvSpPr>
            <a:spLocks noGrp="1"/>
          </p:cNvSpPr>
          <p:nvPr/>
        </p:nvSpPr>
        <p:spPr>
          <a:xfrm>
            <a:off x="762000" y="394335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2E32"/>
                </a:solidFill>
                <a:latin typeface="Arial"/>
                <a:ea typeface="Arial"/>
                <a:cs typeface="Arial"/>
              </a:rPr>
              <a:t>The portal decision is not being reopened.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61102EC-65EC-48EE-BEF3-2C7CFD782892}"/>
              </a:ext>
            </a:extLst>
          </p:cNvPr>
          <p:cNvSpPr>
            <a:spLocks noGrp="1"/>
          </p:cNvSpPr>
          <p:nvPr/>
        </p:nvSpPr>
        <p:spPr>
          <a:xfrm>
            <a:off x="5276850" y="1409700"/>
            <a:ext cx="6419850" cy="4743450"/>
          </a:xfrm>
          <a:prstGeom prst="roundRect">
            <a:avLst>
              <a:gd name="adj" fmla="val 5622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D1566A-EDC2-48E1-9C6B-EFE24C730BC7}"/>
              </a:ext>
            </a:extLst>
          </p:cNvPr>
          <p:cNvSpPr>
            <a:spLocks noGrp="1"/>
          </p:cNvSpPr>
          <p:nvPr/>
        </p:nvSpPr>
        <p:spPr>
          <a:xfrm>
            <a:off x="5676900" y="16954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Decision now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4D96C4-6998-4476-8737-1A3004A1373F}"/>
              </a:ext>
            </a:extLst>
          </p:cNvPr>
          <p:cNvSpPr>
            <a:spLocks noGrp="1"/>
          </p:cNvSpPr>
          <p:nvPr/>
        </p:nvSpPr>
        <p:spPr>
          <a:xfrm>
            <a:off x="5676900" y="2133600"/>
            <a:ext cx="5048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Which runtime operating model can scale across HSBC's API ecosystem?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D255F6-986B-45CC-A525-2EA5A3845303}"/>
              </a:ext>
            </a:extLst>
          </p:cNvPr>
          <p:cNvSpPr>
            <a:spLocks noGrp="1"/>
          </p:cNvSpPr>
          <p:nvPr/>
        </p:nvSpPr>
        <p:spPr>
          <a:xfrm>
            <a:off x="5676900" y="31432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F775E2-615B-4421-AB50-AD00E26CA2C2}"/>
              </a:ext>
            </a:extLst>
          </p:cNvPr>
          <p:cNvSpPr>
            <a:spLocks noGrp="1"/>
          </p:cNvSpPr>
          <p:nvPr/>
        </p:nvSpPr>
        <p:spPr>
          <a:xfrm>
            <a:off x="6305550" y="31337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58D687-BE10-414C-92CC-66A0A5AE67F3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HSBC control vs vendor dependency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7EE13B5-6276-4DFB-9513-5A14734DFED6}"/>
              </a:ext>
            </a:extLst>
          </p:cNvPr>
          <p:cNvSpPr>
            <a:spLocks noGrp="1"/>
          </p:cNvSpPr>
          <p:nvPr/>
        </p:nvSpPr>
        <p:spPr>
          <a:xfrm>
            <a:off x="5676900" y="36957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B9F9F6-F55C-477C-B3CF-53F49B79C395}"/>
              </a:ext>
            </a:extLst>
          </p:cNvPr>
          <p:cNvSpPr>
            <a:spLocks noGrp="1"/>
          </p:cNvSpPr>
          <p:nvPr/>
        </p:nvSpPr>
        <p:spPr>
          <a:xfrm>
            <a:off x="5676900" y="38100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EE5A2-0DD4-4FEC-AF81-A8F51419633C}"/>
              </a:ext>
            </a:extLst>
          </p:cNvPr>
          <p:cNvSpPr>
            <a:spLocks noGrp="1"/>
          </p:cNvSpPr>
          <p:nvPr/>
        </p:nvSpPr>
        <p:spPr>
          <a:xfrm>
            <a:off x="6305550" y="38004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Change agility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A8891F-FCF1-4359-A542-AAC17F31B32C}"/>
              </a:ext>
            </a:extLst>
          </p:cNvPr>
          <p:cNvSpPr>
            <a:spLocks noGrp="1"/>
          </p:cNvSpPr>
          <p:nvPr/>
        </p:nvSpPr>
        <p:spPr>
          <a:xfrm>
            <a:off x="6305550" y="40576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Lead time and cost of the next change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0AB6EF43-8C4A-4813-B5CD-1EDDF57C0F45}"/>
              </a:ext>
            </a:extLst>
          </p:cNvPr>
          <p:cNvSpPr>
            <a:spLocks noGrp="1"/>
          </p:cNvSpPr>
          <p:nvPr/>
        </p:nvSpPr>
        <p:spPr>
          <a:xfrm>
            <a:off x="5676900" y="436245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936432D-0B21-433C-A98B-C47B582FB257}"/>
              </a:ext>
            </a:extLst>
          </p:cNvPr>
          <p:cNvSpPr>
            <a:spLocks noGrp="1"/>
          </p:cNvSpPr>
          <p:nvPr/>
        </p:nvSpPr>
        <p:spPr>
          <a:xfrm>
            <a:off x="5676900" y="447675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E2401B-9FA0-4C14-A390-EDBFA61BCFEB}"/>
              </a:ext>
            </a:extLst>
          </p:cNvPr>
          <p:cNvSpPr>
            <a:spLocks noGrp="1"/>
          </p:cNvSpPr>
          <p:nvPr/>
        </p:nvSpPr>
        <p:spPr>
          <a:xfrm>
            <a:off x="6305550" y="44672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Scalability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AD67E9-1BA9-43DB-B01C-15731421D4DE}"/>
              </a:ext>
            </a:extLst>
          </p:cNvPr>
          <p:cNvSpPr>
            <a:spLocks noGrp="1"/>
          </p:cNvSpPr>
          <p:nvPr/>
        </p:nvSpPr>
        <p:spPr>
          <a:xfrm>
            <a:off x="6305550" y="47244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Operating model across enterprise APIs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F16A3DE-A4F9-4316-916A-4BF58B8EF140}"/>
              </a:ext>
            </a:extLst>
          </p:cNvPr>
          <p:cNvSpPr>
            <a:spLocks noGrp="1"/>
          </p:cNvSpPr>
          <p:nvPr/>
        </p:nvSpPr>
        <p:spPr>
          <a:xfrm>
            <a:off x="5676900" y="50292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01D9916-E0C1-42CA-8F18-ED2C7CAFB80A}"/>
              </a:ext>
            </a:extLst>
          </p:cNvPr>
          <p:cNvSpPr>
            <a:spLocks noGrp="1"/>
          </p:cNvSpPr>
          <p:nvPr/>
        </p:nvSpPr>
        <p:spPr>
          <a:xfrm>
            <a:off x="5676900" y="51435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92083B-C40C-432D-8820-07CBFFD11D01}"/>
              </a:ext>
            </a:extLst>
          </p:cNvPr>
          <p:cNvSpPr>
            <a:spLocks noGrp="1"/>
          </p:cNvSpPr>
          <p:nvPr/>
        </p:nvSpPr>
        <p:spPr>
          <a:xfrm>
            <a:off x="6305550" y="51339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Strategic fit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20B81FB-C871-4B79-A535-F0117CCF3693}"/>
              </a:ext>
            </a:extLst>
          </p:cNvPr>
          <p:cNvSpPr>
            <a:spLocks noGrp="1"/>
          </p:cNvSpPr>
          <p:nvPr/>
        </p:nvSpPr>
        <p:spPr>
          <a:xfrm>
            <a:off x="6305550" y="53911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Alignment with Developer Portal evolution</a:t>
            </a:r>
          </a:p>
        </p:txBody>
      </p:sp>
    </p:spTree>
    <p:extLst>
      <p:ext uri="{BB962C8B-B14F-4D97-AF65-F5344CB8AC3E}">
        <p14:creationId xmlns:p14="http://schemas.microsoft.com/office/powerpoint/2010/main" val="12333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-3-title">
            <a:extLst>
              <a:ext uri="{FF2B5EF4-FFF2-40B4-BE49-F238E27FC236}">
                <a16:creationId xmlns:a16="http://schemas.microsoft.com/office/drawing/2014/main" id="{38868767-8913-4C7D-B037-2054599BCBC6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Portal Evolution Makes the Runtime Choice Strategic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5A26DA-C6A1-4606-8C71-9E15550E933B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DBC4A23E-D20B-401A-B5AA-17731B386B19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916AA7E-4D73-404C-BF37-2EB80101C56D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Open Banking → enterprise API 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4542E-EFA6-4F47-A3EC-1DEE487C6A8D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A0A7BA-294A-43E1-A304-F9A43A78B06E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770C85-6DD6-40D7-B8D5-5A731FF8D826}"/>
              </a:ext>
            </a:extLst>
          </p:cNvPr>
          <p:cNvSpPr>
            <a:spLocks noGrp="1"/>
          </p:cNvSpPr>
          <p:nvPr/>
        </p:nvSpPr>
        <p:spPr>
          <a:xfrm>
            <a:off x="495300" y="1447800"/>
            <a:ext cx="11201400" cy="3028950"/>
          </a:xfrm>
          <a:prstGeom prst="roundRect">
            <a:avLst>
              <a:gd name="adj" fmla="val 6918"/>
            </a:avLst>
          </a:prstGeom>
          <a:solidFill>
            <a:srgbClr val="FFFFFF"/>
          </a:solidFill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6" name="Graphic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23900" y="1600200"/>
            <a:ext cx="10744200" cy="2647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1BE052-8021-47F7-9B16-06637E4E615D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485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707"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The same portal must support an expanding API portfolio.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2A43952-240E-41EC-950F-728D79FFFA94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6F0FF9-F8F0-43CC-B617-B00A6B7A00D0}"/>
              </a:ext>
            </a:extLst>
          </p:cNvPr>
          <p:cNvSpPr>
            <a:spLocks noGrp="1"/>
          </p:cNvSpPr>
          <p:nvPr/>
        </p:nvSpPr>
        <p:spPr>
          <a:xfrm>
            <a:off x="1314450" y="5334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Open Banking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A24FF4-3BB6-4FF4-A95A-3D4DFE3FFBAD}"/>
              </a:ext>
            </a:extLst>
          </p:cNvPr>
          <p:cNvSpPr>
            <a:spLocks noGrp="1"/>
          </p:cNvSpPr>
          <p:nvPr/>
        </p:nvSpPr>
        <p:spPr>
          <a:xfrm>
            <a:off x="3352800" y="52768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DCAF1-1A35-4EFA-991B-CF4944F4A75F}"/>
              </a:ext>
            </a:extLst>
          </p:cNvPr>
          <p:cNvSpPr>
            <a:spLocks noGrp="1"/>
          </p:cNvSpPr>
          <p:nvPr/>
        </p:nvSpPr>
        <p:spPr>
          <a:xfrm>
            <a:off x="3943350" y="5334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Treasury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B9B9C9-9EA2-4C59-9CAE-A6E4ED6B7A03}"/>
              </a:ext>
            </a:extLst>
          </p:cNvPr>
          <p:cNvSpPr>
            <a:spLocks noGrp="1"/>
          </p:cNvSpPr>
          <p:nvPr/>
        </p:nvSpPr>
        <p:spPr>
          <a:xfrm>
            <a:off x="5981700" y="52768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BB368-12F5-4C3B-901B-D5E86AE2F560}"/>
              </a:ext>
            </a:extLst>
          </p:cNvPr>
          <p:cNvSpPr>
            <a:spLocks noGrp="1"/>
          </p:cNvSpPr>
          <p:nvPr/>
        </p:nvSpPr>
        <p:spPr>
          <a:xfrm>
            <a:off x="6572250" y="5334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Corporate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55943E-B6B1-471D-89E8-D0F317A2A93B}"/>
              </a:ext>
            </a:extLst>
          </p:cNvPr>
          <p:cNvSpPr>
            <a:spLocks noGrp="1"/>
          </p:cNvSpPr>
          <p:nvPr/>
        </p:nvSpPr>
        <p:spPr>
          <a:xfrm>
            <a:off x="8610600" y="52768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7ADF0-664D-4D11-9F46-AE521FA0281D}"/>
              </a:ext>
            </a:extLst>
          </p:cNvPr>
          <p:cNvSpPr>
            <a:spLocks noGrp="1"/>
          </p:cNvSpPr>
          <p:nvPr/>
        </p:nvSpPr>
        <p:spPr>
          <a:xfrm>
            <a:off x="9201150" y="53340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Future enterprise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C5F2F-117F-4DB5-9242-3BA4BAB3CF14}"/>
              </a:ext>
            </a:extLst>
          </p:cNvPr>
          <p:cNvSpPr>
            <a:spLocks noGrp="1"/>
          </p:cNvSpPr>
          <p:nvPr/>
        </p:nvSpPr>
        <p:spPr>
          <a:xfrm>
            <a:off x="723900" y="598170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Implication: a domain-specific sandbox decision becomes an enterprise platform decision.</a:t>
            </a:r>
          </a:p>
        </p:txBody>
      </p:sp>
    </p:spTree>
    <p:extLst>
      <p:ext uri="{BB962C8B-B14F-4D97-AF65-F5344CB8AC3E}">
        <p14:creationId xmlns:p14="http://schemas.microsoft.com/office/powerpoint/2010/main" val="109049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-4-title">
            <a:extLst>
              <a:ext uri="{FF2B5EF4-FFF2-40B4-BE49-F238E27FC236}">
                <a16:creationId xmlns:a16="http://schemas.microsoft.com/office/drawing/2014/main" id="{FBBBF384-910F-46F0-BAA6-953B6A040D13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Both Options Can Work; Their Strategic Consequences Differ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D5B1A3-28E8-4B82-BF91-2058BE7EFC47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CD7640A-3B8C-47CB-ADAD-46345FC3E9A3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64AE03F-3BE3-4CB5-926A-4AD617E34CCE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Capability parity • ownership diverges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42CF1-810D-4B23-9765-54110F9FEB2D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47868-0056-4F15-8161-A985AF0C124D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0D8269-9739-45EC-BC03-E25B11263E77}"/>
              </a:ext>
            </a:extLst>
          </p:cNvPr>
          <p:cNvSpPr>
            <a:spLocks noGrp="1"/>
          </p:cNvSpPr>
          <p:nvPr/>
        </p:nvSpPr>
        <p:spPr>
          <a:xfrm>
            <a:off x="742950" y="1466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Option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2B0C4D-5756-4F0F-A309-85514A0B630E}"/>
              </a:ext>
            </a:extLst>
          </p:cNvPr>
          <p:cNvSpPr>
            <a:spLocks noGrp="1"/>
          </p:cNvSpPr>
          <p:nvPr/>
        </p:nvSpPr>
        <p:spPr>
          <a:xfrm>
            <a:off x="742950" y="1752600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Developer Portal + DAC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D06C40D-04A4-4C41-BE19-53B4EB29F60B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666750" cy="666750"/>
          </a:xfrm>
          <a:prstGeom prst="roundRect">
            <a:avLst>
              <a:gd name="adj" fmla="val 17143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86521E-F467-4C2D-B0D0-AA74DFC2B054}"/>
              </a:ext>
            </a:extLst>
          </p:cNvPr>
          <p:cNvSpPr>
            <a:spLocks noGrp="1"/>
          </p:cNvSpPr>
          <p:nvPr/>
        </p:nvSpPr>
        <p:spPr>
          <a:xfrm>
            <a:off x="1657350" y="236220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Mature Open Banking product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D9F1F-D1C6-421D-A310-A9EEE2820A7F}"/>
              </a:ext>
            </a:extLst>
          </p:cNvPr>
          <p:cNvSpPr>
            <a:spLocks noGrp="1"/>
          </p:cNvSpPr>
          <p:nvPr/>
        </p:nvSpPr>
        <p:spPr>
          <a:xfrm>
            <a:off x="1657350" y="272415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Commercial support and product maturity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FF08FD4-6A62-4731-B92A-1F4F24BB924C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41910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CFAC72-3373-4B6A-A3FD-F547934E4251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029188-2952-4D0C-B50B-79B3F4647BFF}"/>
              </a:ext>
            </a:extLst>
          </p:cNvPr>
          <p:cNvSpPr>
            <a:spLocks noGrp="1"/>
          </p:cNvSpPr>
          <p:nvPr/>
        </p:nvSpPr>
        <p:spPr>
          <a:xfrm>
            <a:off x="1466850" y="352425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Ownership consequence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0B006E-DBFA-4615-8949-DB7E7ED667AC}"/>
              </a:ext>
            </a:extLst>
          </p:cNvPr>
          <p:cNvSpPr>
            <a:spLocks noGrp="1"/>
          </p:cNvSpPr>
          <p:nvPr/>
        </p:nvSpPr>
        <p:spPr>
          <a:xfrm>
            <a:off x="1466850" y="3781425"/>
            <a:ext cx="3467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Vendor managed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4C95F-025A-4795-972B-61753C31F876}"/>
              </a:ext>
            </a:extLst>
          </p:cNvPr>
          <p:cNvSpPr>
            <a:spLocks noGrp="1"/>
          </p:cNvSpPr>
          <p:nvPr/>
        </p:nvSpPr>
        <p:spPr>
          <a:xfrm>
            <a:off x="1466850" y="41719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External dependency for change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6AEEC7B-65DE-4884-8F74-C7D05BA76AE9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41910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9957E4-6A54-46B2-811D-6B36D687C39F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F05EDC-9E9D-4FFE-BDB2-3EF7558B6499}"/>
              </a:ext>
            </a:extLst>
          </p:cNvPr>
          <p:cNvSpPr>
            <a:spLocks noGrp="1"/>
          </p:cNvSpPr>
          <p:nvPr/>
        </p:nvSpPr>
        <p:spPr>
          <a:xfrm>
            <a:off x="1466850" y="47244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Strategic consequence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3F5CD0-3643-4347-A8BC-E8B2B6EBA77B}"/>
              </a:ext>
            </a:extLst>
          </p:cNvPr>
          <p:cNvSpPr>
            <a:spLocks noGrp="1"/>
          </p:cNvSpPr>
          <p:nvPr/>
        </p:nvSpPr>
        <p:spPr>
          <a:xfrm>
            <a:off x="1466850" y="4981575"/>
            <a:ext cx="3467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Open Banking anchored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894A05-1B3B-4624-9231-6377A8302208}"/>
              </a:ext>
            </a:extLst>
          </p:cNvPr>
          <p:cNvSpPr>
            <a:spLocks noGrp="1"/>
          </p:cNvSpPr>
          <p:nvPr/>
        </p:nvSpPr>
        <p:spPr>
          <a:xfrm>
            <a:off x="1466850" y="537210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Enterprise extension requires validation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D928FEE-CB7D-472B-9EC5-E7D47FC84C31}"/>
              </a:ext>
            </a:extLst>
          </p:cNvPr>
          <p:cNvSpPr>
            <a:spLocks noGrp="1"/>
          </p:cNvSpPr>
          <p:nvPr/>
        </p:nvSpPr>
        <p:spPr>
          <a:xfrm>
            <a:off x="5276850" y="1409700"/>
            <a:ext cx="6419850" cy="4781550"/>
          </a:xfrm>
          <a:prstGeom prst="roundRect">
            <a:avLst>
              <a:gd name="adj" fmla="val 5578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9FC1A5-81D2-46C9-8906-5DF07F2CEE78}"/>
              </a:ext>
            </a:extLst>
          </p:cNvPr>
          <p:cNvSpPr>
            <a:spLocks noGrp="1"/>
          </p:cNvSpPr>
          <p:nvPr/>
        </p:nvSpPr>
        <p:spPr>
          <a:xfrm>
            <a:off x="5676900" y="16954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Option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EA1095-96D5-4465-9573-3FB3668F841F}"/>
              </a:ext>
            </a:extLst>
          </p:cNvPr>
          <p:cNvSpPr>
            <a:spLocks noGrp="1"/>
          </p:cNvSpPr>
          <p:nvPr/>
        </p:nvSpPr>
        <p:spPr>
          <a:xfrm>
            <a:off x="5676900" y="19812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Developer Portal + SmartMock / SmartSandbox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CFED733-BCE3-4321-95D2-77A29D5179C5}"/>
              </a:ext>
            </a:extLst>
          </p:cNvPr>
          <p:cNvSpPr>
            <a:spLocks noGrp="1"/>
          </p:cNvSpPr>
          <p:nvPr/>
        </p:nvSpPr>
        <p:spPr>
          <a:xfrm>
            <a:off x="5676900" y="2571750"/>
            <a:ext cx="666750" cy="666750"/>
          </a:xfrm>
          <a:prstGeom prst="roundRect">
            <a:avLst>
              <a:gd name="adj" fmla="val 17143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3F4F7F-4BC7-4DC2-92CB-D61F62DEE51F}"/>
              </a:ext>
            </a:extLst>
          </p:cNvPr>
          <p:cNvSpPr>
            <a:spLocks noGrp="1"/>
          </p:cNvSpPr>
          <p:nvPr/>
        </p:nvSpPr>
        <p:spPr>
          <a:xfrm>
            <a:off x="6591300" y="25908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Existing HSBC execution capability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A29336-FAEC-4BB7-888A-D0A21757C638}"/>
              </a:ext>
            </a:extLst>
          </p:cNvPr>
          <p:cNvSpPr>
            <a:spLocks noGrp="1"/>
          </p:cNvSpPr>
          <p:nvPr/>
        </p:nvSpPr>
        <p:spPr>
          <a:xfrm>
            <a:off x="6591300" y="29527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Self-service model with enterprise extensibility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C09A14F4-1763-4FB8-9A7A-C1EDE133B9F2}"/>
              </a:ext>
            </a:extLst>
          </p:cNvPr>
          <p:cNvSpPr>
            <a:spLocks noGrp="1"/>
          </p:cNvSpPr>
          <p:nvPr/>
        </p:nvSpPr>
        <p:spPr>
          <a:xfrm>
            <a:off x="5676900" y="344805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9506C1-A365-4EBA-AD03-D054AEB34FA1}"/>
              </a:ext>
            </a:extLst>
          </p:cNvPr>
          <p:cNvSpPr>
            <a:spLocks noGrp="1"/>
          </p:cNvSpPr>
          <p:nvPr/>
        </p:nvSpPr>
        <p:spPr>
          <a:xfrm>
            <a:off x="5676900" y="37338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5D3FF9-8700-4B21-8A7B-7499FB2F8A0D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Ownership consequence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DFFF8B-2397-48D1-90A3-7EE5849B0640}"/>
              </a:ext>
            </a:extLst>
          </p:cNvPr>
          <p:cNvSpPr>
            <a:spLocks noGrp="1"/>
          </p:cNvSpPr>
          <p:nvPr/>
        </p:nvSpPr>
        <p:spPr>
          <a:xfrm>
            <a:off x="6400800" y="3971925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HSBC controlled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0CD4DB-029C-4E8C-8A07-9622CA50421C}"/>
              </a:ext>
            </a:extLst>
          </p:cNvPr>
          <p:cNvSpPr>
            <a:spLocks noGrp="1"/>
          </p:cNvSpPr>
          <p:nvPr/>
        </p:nvSpPr>
        <p:spPr>
          <a:xfrm>
            <a:off x="6400800" y="43624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Direct configuration and iteration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1F8B00DE-D06B-4DC9-8A31-EF25CAB35C51}"/>
              </a:ext>
            </a:extLst>
          </p:cNvPr>
          <p:cNvSpPr>
            <a:spLocks noGrp="1"/>
          </p:cNvSpPr>
          <p:nvPr/>
        </p:nvSpPr>
        <p:spPr>
          <a:xfrm>
            <a:off x="5676900" y="474345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FD0A59F-D318-4888-973D-93599494CB33}"/>
              </a:ext>
            </a:extLst>
          </p:cNvPr>
          <p:cNvSpPr>
            <a:spLocks noGrp="1"/>
          </p:cNvSpPr>
          <p:nvPr/>
        </p:nvSpPr>
        <p:spPr>
          <a:xfrm>
            <a:off x="5676900" y="49339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15D46F-E6CB-4E39-84B6-D99F69A43A99}"/>
              </a:ext>
            </a:extLst>
          </p:cNvPr>
          <p:cNvSpPr>
            <a:spLocks noGrp="1"/>
          </p:cNvSpPr>
          <p:nvPr/>
        </p:nvSpPr>
        <p:spPr>
          <a:xfrm>
            <a:off x="6400800" y="491490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Board condition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D7D226-0DF5-41FB-91BC-CB16E8F7853D}"/>
              </a:ext>
            </a:extLst>
          </p:cNvPr>
          <p:cNvSpPr>
            <a:spLocks noGrp="1"/>
          </p:cNvSpPr>
          <p:nvPr/>
        </p:nvSpPr>
        <p:spPr>
          <a:xfrm>
            <a:off x="6400800" y="5172075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Productise + govern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6A17CF-6B50-454B-9C55-B701D599744E}"/>
              </a:ext>
            </a:extLst>
          </p:cNvPr>
          <p:cNvSpPr>
            <a:spLocks noGrp="1"/>
          </p:cNvSpPr>
          <p:nvPr/>
        </p:nvSpPr>
        <p:spPr>
          <a:xfrm>
            <a:off x="6400800" y="55626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Platform ownership and operational controls</a:t>
            </a:r>
          </a:p>
        </p:txBody>
      </p:sp>
    </p:spTree>
    <p:extLst>
      <p:ext uri="{BB962C8B-B14F-4D97-AF65-F5344CB8AC3E}">
        <p14:creationId xmlns:p14="http://schemas.microsoft.com/office/powerpoint/2010/main" val="209001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-5-title">
            <a:extLst>
              <a:ext uri="{FF2B5EF4-FFF2-40B4-BE49-F238E27FC236}">
                <a16:creationId xmlns:a16="http://schemas.microsoft.com/office/drawing/2014/main" id="{591CE9E8-8FE4-481D-9B16-0FB4C840C7D6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Reference Comparison: Cost, Agility and Reuse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DCC7BA-FAD8-468E-9607-627F08032959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70ED1EB-A75D-48DB-9BD7-F13BCBA0F9D2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3B866A-26BE-479C-AF48-492C13726556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~76% lower cost • ~80% quicker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3E40E8-7C27-4824-B39B-2D8DBD6230E2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B66E36-4E28-4484-8760-0E6F879291B8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A61284-5B1D-412F-9F53-128CC3BF254A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Vendor sandbox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B18A4AE-CD38-41FC-9860-F828CEA84757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9C844-0518-4EBB-9113-32EC43BB7F5E}"/>
              </a:ext>
            </a:extLst>
          </p:cNvPr>
          <p:cNvSpPr>
            <a:spLocks noGrp="1"/>
          </p:cNvSpPr>
          <p:nvPr/>
        </p:nvSpPr>
        <p:spPr>
          <a:xfrm>
            <a:off x="1676400" y="213360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Vendor sandbox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0FFF7F-7D21-45E8-A18D-D78E6399065D}"/>
              </a:ext>
            </a:extLst>
          </p:cNvPr>
          <p:cNvSpPr>
            <a:spLocks noGrp="1"/>
          </p:cNvSpPr>
          <p:nvPr/>
        </p:nvSpPr>
        <p:spPr>
          <a:xfrm>
            <a:off x="742950" y="2933700"/>
            <a:ext cx="42672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F6CBBB-AB06-4A23-AF8C-B4D669695DF7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C1D07-CD41-4CE5-B1D0-9336B5E39333}"/>
              </a:ext>
            </a:extLst>
          </p:cNvPr>
          <p:cNvSpPr>
            <a:spLocks noGrp="1"/>
          </p:cNvSpPr>
          <p:nvPr/>
        </p:nvSpPr>
        <p:spPr>
          <a:xfrm>
            <a:off x="1466850" y="316230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03BE4A-D9AF-4F68-8C70-A61230F6632B}"/>
              </a:ext>
            </a:extLst>
          </p:cNvPr>
          <p:cNvSpPr>
            <a:spLocks noGrp="1"/>
          </p:cNvSpPr>
          <p:nvPr/>
        </p:nvSpPr>
        <p:spPr>
          <a:xfrm>
            <a:off x="1466850" y="3419475"/>
            <a:ext cx="3543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$1.0M / year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DB4EA-1D29-44A1-B70E-9FAB3A2223B2}"/>
              </a:ext>
            </a:extLst>
          </p:cNvPr>
          <p:cNvSpPr>
            <a:spLocks noGrp="1"/>
          </p:cNvSpPr>
          <p:nvPr/>
        </p:nvSpPr>
        <p:spPr>
          <a:xfrm>
            <a:off x="1466850" y="3810000"/>
            <a:ext cx="3543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Annual vendor fee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170CF8B-5230-4814-BA90-8D166FF39929}"/>
              </a:ext>
            </a:extLst>
          </p:cNvPr>
          <p:cNvSpPr>
            <a:spLocks noGrp="1"/>
          </p:cNvSpPr>
          <p:nvPr/>
        </p:nvSpPr>
        <p:spPr>
          <a:xfrm>
            <a:off x="742950" y="4191000"/>
            <a:ext cx="42672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5FD58D-80A6-4728-9C41-871CBC8A0C3C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≋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63000C-5107-4FEE-A578-6BBAB77B1B2B}"/>
              </a:ext>
            </a:extLst>
          </p:cNvPr>
          <p:cNvSpPr>
            <a:spLocks noGrp="1"/>
          </p:cNvSpPr>
          <p:nvPr/>
        </p:nvSpPr>
        <p:spPr>
          <a:xfrm>
            <a:off x="1466850" y="42862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Change agility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2AB7E9-5302-4F8A-BDE5-448C62FFB9A4}"/>
              </a:ext>
            </a:extLst>
          </p:cNvPr>
          <p:cNvSpPr>
            <a:spLocks noGrp="1"/>
          </p:cNvSpPr>
          <p:nvPr/>
        </p:nvSpPr>
        <p:spPr>
          <a:xfrm>
            <a:off x="1466850" y="4543425"/>
            <a:ext cx="3543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~2 weeks per change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8CF0C5-3627-4C51-B2C5-6F93F794BA60}"/>
              </a:ext>
            </a:extLst>
          </p:cNvPr>
          <p:cNvSpPr>
            <a:spLocks noGrp="1"/>
          </p:cNvSpPr>
          <p:nvPr/>
        </p:nvSpPr>
        <p:spPr>
          <a:xfrm>
            <a:off x="1466850" y="4933950"/>
            <a:ext cx="3543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requirements → implement → planned release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255880EF-A849-4D1E-81D2-24751EDC9999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42672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E7C1ED-5A40-4336-B0F7-87EABEC5B671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5EB95A-9F5F-4FC6-865A-1331E07207C0}"/>
              </a:ext>
            </a:extLst>
          </p:cNvPr>
          <p:cNvSpPr>
            <a:spLocks noGrp="1"/>
          </p:cNvSpPr>
          <p:nvPr/>
        </p:nvSpPr>
        <p:spPr>
          <a:xfrm>
            <a:off x="1466850" y="541020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New instances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E1F1B2-0175-408F-BC01-3696B3F74CF8}"/>
              </a:ext>
            </a:extLst>
          </p:cNvPr>
          <p:cNvSpPr>
            <a:spLocks noGrp="1"/>
          </p:cNvSpPr>
          <p:nvPr/>
        </p:nvSpPr>
        <p:spPr>
          <a:xfrm>
            <a:off x="1466850" y="5667375"/>
            <a:ext cx="3543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298"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New instance = new domain work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39D62C-6629-454C-97FF-4F87229B8FEE}"/>
              </a:ext>
            </a:extLst>
          </p:cNvPr>
          <p:cNvSpPr>
            <a:spLocks noGrp="1"/>
          </p:cNvSpPr>
          <p:nvPr/>
        </p:nvSpPr>
        <p:spPr>
          <a:xfrm>
            <a:off x="1466850" y="6057900"/>
            <a:ext cx="3543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C5A720-69D9-4C69-BC9E-91B6A8883818}"/>
              </a:ext>
            </a:extLst>
          </p:cNvPr>
          <p:cNvSpPr>
            <a:spLocks noGrp="1"/>
          </p:cNvSpPr>
          <p:nvPr/>
        </p:nvSpPr>
        <p:spPr>
          <a:xfrm>
            <a:off x="5276850" y="1409700"/>
            <a:ext cx="6419850" cy="495300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A0B083E-06A1-4DA9-BC1A-3F8654357D42}"/>
              </a:ext>
            </a:extLst>
          </p:cNvPr>
          <p:cNvSpPr>
            <a:spLocks noGrp="1"/>
          </p:cNvSpPr>
          <p:nvPr/>
        </p:nvSpPr>
        <p:spPr>
          <a:xfrm>
            <a:off x="5676900" y="18859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24CE67-A24B-4D61-AD02-63A2C24822B6}"/>
              </a:ext>
            </a:extLst>
          </p:cNvPr>
          <p:cNvSpPr>
            <a:spLocks noGrp="1"/>
          </p:cNvSpPr>
          <p:nvPr/>
        </p:nvSpPr>
        <p:spPr>
          <a:xfrm>
            <a:off x="6610350" y="1924050"/>
            <a:ext cx="3905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In-house sandbox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D35BD877-FA22-41D1-8DBE-52301CFC5D81}"/>
              </a:ext>
            </a:extLst>
          </p:cNvPr>
          <p:cNvSpPr>
            <a:spLocks noGrp="1"/>
          </p:cNvSpPr>
          <p:nvPr/>
        </p:nvSpPr>
        <p:spPr>
          <a:xfrm>
            <a:off x="5676900" y="272415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1F71CE3-E89B-4EC0-A041-22C15B4C1A7E}"/>
              </a:ext>
            </a:extLst>
          </p:cNvPr>
          <p:cNvSpPr>
            <a:spLocks noGrp="1"/>
          </p:cNvSpPr>
          <p:nvPr/>
        </p:nvSpPr>
        <p:spPr>
          <a:xfrm>
            <a:off x="5676900" y="29527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3EE669-041A-4E7A-96C4-195C4D3C181E}"/>
              </a:ext>
            </a:extLst>
          </p:cNvPr>
          <p:cNvSpPr>
            <a:spLocks noGrp="1"/>
          </p:cNvSpPr>
          <p:nvPr/>
        </p:nvSpPr>
        <p:spPr>
          <a:xfrm>
            <a:off x="6400800" y="293370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801598-475D-450C-978A-1EF2CB29C080}"/>
              </a:ext>
            </a:extLst>
          </p:cNvPr>
          <p:cNvSpPr>
            <a:spLocks noGrp="1"/>
          </p:cNvSpPr>
          <p:nvPr/>
        </p:nvSpPr>
        <p:spPr>
          <a:xfrm>
            <a:off x="6400800" y="3190875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2 devs ≈ $240K / year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48E82E-9FB7-45C0-B987-5239481FEF2B}"/>
              </a:ext>
            </a:extLst>
          </p:cNvPr>
          <p:cNvSpPr>
            <a:spLocks noGrp="1"/>
          </p:cNvSpPr>
          <p:nvPr/>
        </p:nvSpPr>
        <p:spPr>
          <a:xfrm>
            <a:off x="6400800" y="35814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Run cost (2 developers)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DD149582-EBEA-4639-9732-D37A1E31FF91}"/>
              </a:ext>
            </a:extLst>
          </p:cNvPr>
          <p:cNvSpPr>
            <a:spLocks noGrp="1"/>
          </p:cNvSpPr>
          <p:nvPr/>
        </p:nvSpPr>
        <p:spPr>
          <a:xfrm>
            <a:off x="5676900" y="39624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76CB5EA-2747-4D78-8A53-1A1A614DF227}"/>
              </a:ext>
            </a:extLst>
          </p:cNvPr>
          <p:cNvSpPr>
            <a:spLocks noGrp="1"/>
          </p:cNvSpPr>
          <p:nvPr/>
        </p:nvSpPr>
        <p:spPr>
          <a:xfrm>
            <a:off x="5676900" y="407670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≋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7B9890-2A28-432E-9241-7590D0B88CA2}"/>
              </a:ext>
            </a:extLst>
          </p:cNvPr>
          <p:cNvSpPr>
            <a:spLocks noGrp="1"/>
          </p:cNvSpPr>
          <p:nvPr/>
        </p:nvSpPr>
        <p:spPr>
          <a:xfrm>
            <a:off x="6400800" y="405765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Change agility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FA04E36-65BF-470D-A18F-75D49B2590F4}"/>
              </a:ext>
            </a:extLst>
          </p:cNvPr>
          <p:cNvSpPr>
            <a:spLocks noGrp="1"/>
          </p:cNvSpPr>
          <p:nvPr/>
        </p:nvSpPr>
        <p:spPr>
          <a:xfrm>
            <a:off x="6400800" y="4314825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~2 days per change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CD54B8-389D-4871-8279-A40FD8FA3E0D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UI configuration (change behavior without code changes)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05E0EC59-8C75-487E-875F-F0AFFEB6BF95}"/>
              </a:ext>
            </a:extLst>
          </p:cNvPr>
          <p:cNvSpPr>
            <a:spLocks noGrp="1"/>
          </p:cNvSpPr>
          <p:nvPr/>
        </p:nvSpPr>
        <p:spPr>
          <a:xfrm>
            <a:off x="5676900" y="508635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6FD4694-2EB6-4CF9-9D92-553A67790693}"/>
              </a:ext>
            </a:extLst>
          </p:cNvPr>
          <p:cNvSpPr>
            <a:spLocks noGrp="1"/>
          </p:cNvSpPr>
          <p:nvPr/>
        </p:nvSpPr>
        <p:spPr>
          <a:xfrm>
            <a:off x="5676900" y="52006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8756F3-EA5D-4F47-B334-02C7AF514489}"/>
              </a:ext>
            </a:extLst>
          </p:cNvPr>
          <p:cNvSpPr>
            <a:spLocks noGrp="1"/>
          </p:cNvSpPr>
          <p:nvPr/>
        </p:nvSpPr>
        <p:spPr>
          <a:xfrm>
            <a:off x="6400800" y="5181600"/>
            <a:ext cx="480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New instances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483689-5EA5-4316-85CB-670D50FEFF2A}"/>
              </a:ext>
            </a:extLst>
          </p:cNvPr>
          <p:cNvSpPr>
            <a:spLocks noGrp="1"/>
          </p:cNvSpPr>
          <p:nvPr/>
        </p:nvSpPr>
        <p:spPr>
          <a:xfrm>
            <a:off x="6400800" y="5438775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Reuse one domain pattern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BA91DB-CAFC-4A7F-AA9E-858030C216DE}"/>
              </a:ext>
            </a:extLst>
          </p:cNvPr>
          <p:cNvSpPr>
            <a:spLocks noGrp="1"/>
          </p:cNvSpPr>
          <p:nvPr/>
        </p:nvSpPr>
        <p:spPr>
          <a:xfrm>
            <a:off x="6400800" y="5829300"/>
            <a:ext cx="4800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developer.hsbc.com/sandbox/{name}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6FF5BB-A2D5-4CD5-AE22-686C7B88C4E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109728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750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Figures reproduced from the supplied reference slide; validate assumptions before investment approval.</a:t>
            </a:r>
          </a:p>
        </p:txBody>
      </p:sp>
    </p:spTree>
    <p:extLst>
      <p:ext uri="{BB962C8B-B14F-4D97-AF65-F5344CB8AC3E}">
        <p14:creationId xmlns:p14="http://schemas.microsoft.com/office/powerpoint/2010/main" val="1680753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6-title">
            <a:extLst>
              <a:ext uri="{FF2B5EF4-FFF2-40B4-BE49-F238E27FC236}">
                <a16:creationId xmlns:a16="http://schemas.microsoft.com/office/drawing/2014/main" id="{F769AF76-50B6-4CB3-A83C-0D4728811E52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Operating Model Determines Change Throughput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9E75E-BD56-4A1E-A17E-17CF0EA8478D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EE84211-72F4-4CDF-BB56-383BF3840F97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2B123E-C3B7-4D26-84B8-FAE9D472B060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External handoffs vs contract-led self-service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892B2F-7308-4CA0-8D81-892BF53BE5CE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1E81B-23C6-45E6-ABFF-577EF1D15B15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64B6C-33A3-49EA-9BD6-86D81CBA195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Vendor-managed path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DED140C-9E73-4197-A954-C23871E8E6B7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11201400" cy="163830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4" name="Graphic 2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42950" y="1981200"/>
            <a:ext cx="10706100" cy="952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7ED165-C68A-4696-893E-2C7733DE67E2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1070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Four organisational handoffs create external change and release dependency.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D3CA02-51A4-401B-8D4F-FCA9F424C7BB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HSBC-owned path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710C2A-BF85-4697-B1CC-F037E55A08F8}"/>
              </a:ext>
            </a:extLst>
          </p:cNvPr>
          <p:cNvSpPr>
            <a:spLocks noGrp="1"/>
          </p:cNvSpPr>
          <p:nvPr/>
        </p:nvSpPr>
        <p:spPr>
          <a:xfrm>
            <a:off x="495300" y="4057650"/>
            <a:ext cx="11201400" cy="2000250"/>
          </a:xfrm>
          <a:prstGeom prst="roundRect">
            <a:avLst>
              <a:gd name="adj" fmla="val 10476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8" name="Graphic 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2950" y="4248150"/>
            <a:ext cx="10706100" cy="9715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79179A-A1FD-40C1-A5FC-178D3DE7818E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070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OpenAPI + scenario definitions become the change interface; governance stays inside HSBC.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84967D-0E48-4C5E-A0CF-21211156B147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10706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Board implication: ownership shifts from vendor coordination to platform governance.</a:t>
            </a:r>
          </a:p>
        </p:txBody>
      </p:sp>
    </p:spTree>
    <p:extLst>
      <p:ext uri="{BB962C8B-B14F-4D97-AF65-F5344CB8AC3E}">
        <p14:creationId xmlns:p14="http://schemas.microsoft.com/office/powerpoint/2010/main" val="211570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-7-title">
            <a:extLst>
              <a:ext uri="{FF2B5EF4-FFF2-40B4-BE49-F238E27FC236}">
                <a16:creationId xmlns:a16="http://schemas.microsoft.com/office/drawing/2014/main" id="{AE2150A6-2584-45A6-B7FB-014627860B44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At Enterprise Scale, Coordination Becomes the Constraint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CA6AB6-B77D-4732-99AC-1C8B93D0ED69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FE57202-2DCA-4BCD-96B3-A3D729115CA7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CFBB8CB-8628-4B59-8528-07EEC92279F3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Measure the cost of the next change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76A0B-682F-4576-B3B9-05A18B05EB9E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B53F66-65D4-4428-B98B-96CEABF5CECF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541448-2FCD-474A-B017-055CDEAD874C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API estate expands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1A6E34-6E4C-4772-B124-D41E6AC80F8A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57DAD1-0FAC-4185-97DE-56D1E9F10BCF}"/>
              </a:ext>
            </a:extLst>
          </p:cNvPr>
          <p:cNvSpPr>
            <a:spLocks noGrp="1"/>
          </p:cNvSpPr>
          <p:nvPr/>
        </p:nvSpPr>
        <p:spPr>
          <a:xfrm>
            <a:off x="1485900" y="2076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Single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F4912-7DFB-45B3-9C23-DE832C4BBE43}"/>
              </a:ext>
            </a:extLst>
          </p:cNvPr>
          <p:cNvSpPr>
            <a:spLocks noGrp="1"/>
          </p:cNvSpPr>
          <p:nvPr/>
        </p:nvSpPr>
        <p:spPr>
          <a:xfrm>
            <a:off x="1485900" y="24003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Local 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FF654-2AB0-4CE2-AE47-5EF14DC029E5}"/>
              </a:ext>
            </a:extLst>
          </p:cNvPr>
          <p:cNvSpPr>
            <a:spLocks noGrp="1"/>
          </p:cNvSpPr>
          <p:nvPr/>
        </p:nvSpPr>
        <p:spPr>
          <a:xfrm>
            <a:off x="3676650" y="21717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52177C-B883-4E1C-B7EF-80AED0B7F798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5B1429-4F4B-4714-B680-21A9C21D3406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API portfolio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D2C5EA-9703-4E02-9193-64A507B722CA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Repeated onboarding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7E4F9-6158-46AF-A208-0B9EC42F2B0E}"/>
              </a:ext>
            </a:extLst>
          </p:cNvPr>
          <p:cNvSpPr>
            <a:spLocks noGrp="1"/>
          </p:cNvSpPr>
          <p:nvPr/>
        </p:nvSpPr>
        <p:spPr>
          <a:xfrm>
            <a:off x="7105650" y="2171700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76AE29D-4C7C-4C49-B2E6-CE3EB0623BB7}"/>
              </a:ext>
            </a:extLst>
          </p:cNvPr>
          <p:cNvSpPr>
            <a:spLocks noGrp="1"/>
          </p:cNvSpPr>
          <p:nvPr/>
        </p:nvSpPr>
        <p:spPr>
          <a:xfrm>
            <a:off x="7600950" y="2095500"/>
            <a:ext cx="552450" cy="552450"/>
          </a:xfrm>
          <a:prstGeom prst="roundRect">
            <a:avLst>
              <a:gd name="adj" fmla="val 2069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B8855-6B1A-417A-B483-1FAE5472AE0F}"/>
              </a:ext>
            </a:extLst>
          </p:cNvPr>
          <p:cNvSpPr>
            <a:spLocks noGrp="1"/>
          </p:cNvSpPr>
          <p:nvPr/>
        </p:nvSpPr>
        <p:spPr>
          <a:xfrm>
            <a:off x="8343900" y="20764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Enterprise ecosystem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563AB-2158-4AA6-9493-A97D13B11DB9}"/>
              </a:ext>
            </a:extLst>
          </p:cNvPr>
          <p:cNvSpPr>
            <a:spLocks noGrp="1"/>
          </p:cNvSpPr>
          <p:nvPr/>
        </p:nvSpPr>
        <p:spPr>
          <a:xfrm>
            <a:off x="8343900" y="240030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Cross-domain governance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17DDA43-0610-4F3B-A1CF-B814F7A09D4A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7061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2A87C7-735F-43D5-9FC4-866F3F62B92E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Vendor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C95E74-5CE9-4B78-99DB-574652AF54E9}"/>
              </a:ext>
            </a:extLst>
          </p:cNvPr>
          <p:cNvSpPr>
            <a:spLocks noGrp="1"/>
          </p:cNvSpPr>
          <p:nvPr/>
        </p:nvSpPr>
        <p:spPr>
          <a:xfrm>
            <a:off x="2876550" y="3352800"/>
            <a:ext cx="723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Each domain repeats requirement, vendor engagement, implementation and release coordination.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9343E02-F99E-4653-89B3-477954C9592A}"/>
              </a:ext>
            </a:extLst>
          </p:cNvPr>
          <p:cNvSpPr>
            <a:spLocks noGrp="1"/>
          </p:cNvSpPr>
          <p:nvPr/>
        </p:nvSpPr>
        <p:spPr>
          <a:xfrm>
            <a:off x="10572750" y="32956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2F4F5"/>
          </a:solidFill>
          <a:ln w="16193">
            <a:solidFill>
              <a:srgbClr val="626A74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C3BAF714-C9B1-4896-9251-F99DC39997A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7061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6798FE-3441-4774-A3BC-BB5E4ED9CF17}"/>
              </a:ext>
            </a:extLst>
          </p:cNvPr>
          <p:cNvSpPr>
            <a:spLocks noGrp="1"/>
          </p:cNvSpPr>
          <p:nvPr/>
        </p:nvSpPr>
        <p:spPr>
          <a:xfrm>
            <a:off x="495300" y="4324350"/>
            <a:ext cx="11201400" cy="1638300"/>
          </a:xfrm>
          <a:prstGeom prst="roundRect">
            <a:avLst>
              <a:gd name="adj" fmla="val 12791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B02B1E-DF60-43C9-B3EA-E274AD025906}"/>
              </a:ext>
            </a:extLst>
          </p:cNvPr>
          <p:cNvSpPr>
            <a:spLocks noGrp="1"/>
          </p:cNvSpPr>
          <p:nvPr/>
        </p:nvSpPr>
        <p:spPr>
          <a:xfrm>
            <a:off x="742950" y="46291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HSBC-owned model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4FE895-4BB2-4F66-A775-2522D5E6913E}"/>
              </a:ext>
            </a:extLst>
          </p:cNvPr>
          <p:cNvSpPr>
            <a:spLocks noGrp="1"/>
          </p:cNvSpPr>
          <p:nvPr/>
        </p:nvSpPr>
        <p:spPr>
          <a:xfrm>
            <a:off x="3067050" y="4591050"/>
            <a:ext cx="695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425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Reuse the OpenAPI + scenario pattern while centralising policy, observability and operational control.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2A58FEA-B5B5-4D18-8AF6-5CDCF25C6C67}"/>
              </a:ext>
            </a:extLst>
          </p:cNvPr>
          <p:cNvSpPr>
            <a:spLocks noGrp="1"/>
          </p:cNvSpPr>
          <p:nvPr/>
        </p:nvSpPr>
        <p:spPr>
          <a:xfrm>
            <a:off x="10572750" y="4552950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EEABEF-5365-4502-8DA8-DE4149665379}"/>
              </a:ext>
            </a:extLst>
          </p:cNvPr>
          <p:cNvSpPr>
            <a:spLocks noGrp="1"/>
          </p:cNvSpPr>
          <p:nvPr/>
        </p:nvSpPr>
        <p:spPr>
          <a:xfrm>
            <a:off x="742950" y="53911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The economic advantage compounds only if the platform operating model is productised and governed.</a:t>
            </a:r>
          </a:p>
        </p:txBody>
      </p:sp>
    </p:spTree>
    <p:extLst>
      <p:ext uri="{BB962C8B-B14F-4D97-AF65-F5344CB8AC3E}">
        <p14:creationId xmlns:p14="http://schemas.microsoft.com/office/powerpoint/2010/main" val="249170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-8-title">
            <a:extLst>
              <a:ext uri="{FF2B5EF4-FFF2-40B4-BE49-F238E27FC236}">
                <a16:creationId xmlns:a16="http://schemas.microsoft.com/office/drawing/2014/main" id="{00DA7D50-F432-4E8F-AB33-014E826633F8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SmartMock Executes; SmartSandbox Productises the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295ADE-5FED-470F-8285-6B8BCE27B0A8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348A953-F878-4C8D-B286-529073394407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9B2CD2-1444-4FBA-B39B-221BC7EA95C6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Evolution • not a greenfield replacement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A49C59-FEF8-40F5-86A3-9323724A4310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05422-E798-4CFF-96D5-AF447EDAE7CF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81DB0-66B2-4985-B0C0-ABE0DC9E0523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Proven internal execution engine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FA829-6842-4BE8-A499-B217D0790E87}"/>
              </a:ext>
            </a:extLst>
          </p:cNvPr>
          <p:cNvSpPr>
            <a:spLocks noGrp="1"/>
          </p:cNvSpPr>
          <p:nvPr/>
        </p:nvSpPr>
        <p:spPr>
          <a:xfrm>
            <a:off x="742950" y="1885950"/>
            <a:ext cx="619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3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SmartMock already provides API mocking, OpenAPI support and configurable behaviour.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37C65-1258-4E8A-BEE2-FD22D136AFD8}"/>
              </a:ext>
            </a:extLst>
          </p:cNvPr>
          <p:cNvSpPr>
            <a:spLocks noGrp="1"/>
          </p:cNvSpPr>
          <p:nvPr/>
        </p:nvSpPr>
        <p:spPr>
          <a:xfrm>
            <a:off x="495300" y="2724150"/>
            <a:ext cx="11201400" cy="2133600"/>
          </a:xfrm>
          <a:prstGeom prst="roundRect">
            <a:avLst>
              <a:gd name="adj" fmla="val 9821"/>
            </a:avLst>
          </a:prstGeom>
          <a:solidFill>
            <a:srgbClr val="FFFFFF"/>
          </a:solidFill>
          <a:ln w="23813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pic>
        <p:nvPicPr>
          <p:cNvPr id="27" name="Graphic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85800" y="3028950"/>
            <a:ext cx="10820400" cy="9334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0C20176-4014-42BB-8C90-6A433710F05E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A74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D5F466-543A-477C-AF41-84F132F09763}"/>
              </a:ext>
            </a:extLst>
          </p:cNvPr>
          <p:cNvSpPr>
            <a:spLocks noGrp="1"/>
          </p:cNvSpPr>
          <p:nvPr/>
        </p:nvSpPr>
        <p:spPr>
          <a:xfrm>
            <a:off x="2609850" y="42481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1121EB-776E-4886-8323-BDF4CB5C367E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Lifecycle + isolation + scenarios +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D16D4D-F64F-4D50-B726-1DED9FBB23FD}"/>
              </a:ext>
            </a:extLst>
          </p:cNvPr>
          <p:cNvSpPr>
            <a:spLocks noGrp="1"/>
          </p:cNvSpPr>
          <p:nvPr/>
        </p:nvSpPr>
        <p:spPr>
          <a:xfrm>
            <a:off x="7258050" y="4248150"/>
            <a:ext cx="38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69FEE0-4401-4BCC-A562-63F770F56CC2}"/>
              </a:ext>
            </a:extLst>
          </p:cNvPr>
          <p:cNvSpPr>
            <a:spLocks noGrp="1"/>
          </p:cNvSpPr>
          <p:nvPr/>
        </p:nvSpPr>
        <p:spPr>
          <a:xfrm>
            <a:off x="7810500" y="42672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Enterprise operating platform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40DADC-A8B4-42BB-9889-40B5F01D1776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26"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Architecture implication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950F8C-F49A-4FA5-B20A-DA61E14C563A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The investment is platform productisation and governance—not replacement of the execution core.</a:t>
            </a:r>
          </a:p>
        </p:txBody>
      </p:sp>
    </p:spTree>
    <p:extLst>
      <p:ext uri="{BB962C8B-B14F-4D97-AF65-F5344CB8AC3E}">
        <p14:creationId xmlns:p14="http://schemas.microsoft.com/office/powerpoint/2010/main" val="1775509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-9-title">
            <a:extLst>
              <a:ext uri="{FF2B5EF4-FFF2-40B4-BE49-F238E27FC236}">
                <a16:creationId xmlns:a16="http://schemas.microsoft.com/office/drawing/2014/main" id="{A5F85008-CFEA-4335-8AEB-C6666ACB6A18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4337"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Approval Should Be Conditional on Productisation and Governance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A594D9-673C-47C3-B8C2-053CB32E96DE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7C38039-C8ED-4A07-8B42-BB5096EC0A96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FE8090-220B-40AF-92EC-417FDAC05711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Strategic direction + explicit guardrails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F8422-1D80-4189-9A43-FECE048172AD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1EB5D-3C11-4ED2-AF86-CF45060BDAC9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67A07F-B549-4F33-BFC6-5CB3833E50A3}"/>
              </a:ext>
            </a:extLst>
          </p:cNvPr>
          <p:cNvSpPr>
            <a:spLocks noGrp="1"/>
          </p:cNvSpPr>
          <p:nvPr/>
        </p:nvSpPr>
        <p:spPr>
          <a:xfrm>
            <a:off x="742950" y="1562100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Approve the direction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E72CA18-7F61-46E2-A1AB-882F58115EE8}"/>
              </a:ext>
            </a:extLst>
          </p:cNvPr>
          <p:cNvSpPr>
            <a:spLocks noGrp="1"/>
          </p:cNvSpPr>
          <p:nvPr/>
        </p:nvSpPr>
        <p:spPr>
          <a:xfrm>
            <a:off x="742950" y="21526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42EFD8-D63B-46F8-BECA-E125D9A4D0AA}"/>
              </a:ext>
            </a:extLst>
          </p:cNvPr>
          <p:cNvSpPr>
            <a:spLocks noGrp="1"/>
          </p:cNvSpPr>
          <p:nvPr/>
        </p:nvSpPr>
        <p:spPr>
          <a:xfrm>
            <a:off x="1676400" y="2133600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HSBC-owned enterprise API simulation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A5F26E-5646-44D6-9067-992AE60D25AF}"/>
              </a:ext>
            </a:extLst>
          </p:cNvPr>
          <p:cNvSpPr>
            <a:spLocks noGrp="1"/>
          </p:cNvSpPr>
          <p:nvPr/>
        </p:nvSpPr>
        <p:spPr>
          <a:xfrm>
            <a:off x="742950" y="3162300"/>
            <a:ext cx="4191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500" b="0">
                <a:solidFill>
                  <a:srgbClr val="2B2E3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B2E32"/>
                </a:solidFill>
                <a:latin typeface="Arial"/>
                <a:ea typeface="Arial"/>
                <a:cs typeface="Arial"/>
              </a:rPr>
              <a:t>The remaining risk is not product capability; it is whether HSBC establishes a durable platform operating model.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4A20A5-6758-48A6-BC89-73907146DB3D}"/>
              </a:ext>
            </a:extLst>
          </p:cNvPr>
          <p:cNvSpPr>
            <a:spLocks noGrp="1"/>
          </p:cNvSpPr>
          <p:nvPr/>
        </p:nvSpPr>
        <p:spPr>
          <a:xfrm>
            <a:off x="5276850" y="1409700"/>
            <a:ext cx="6419850" cy="47625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1E5BE4-6127-4FE7-A847-803ABA2A74BD}"/>
              </a:ext>
            </a:extLst>
          </p:cNvPr>
          <p:cNvSpPr>
            <a:spLocks noGrp="1"/>
          </p:cNvSpPr>
          <p:nvPr/>
        </p:nvSpPr>
        <p:spPr>
          <a:xfrm>
            <a:off x="5676900" y="16954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Board guardrails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7FFA319-CD75-4563-BCA0-4A1449B3DD86}"/>
              </a:ext>
            </a:extLst>
          </p:cNvPr>
          <p:cNvSpPr>
            <a:spLocks noGrp="1"/>
          </p:cNvSpPr>
          <p:nvPr/>
        </p:nvSpPr>
        <p:spPr>
          <a:xfrm>
            <a:off x="5676900" y="23241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◎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2DD8B0-9A35-425A-B182-387E857BE746}"/>
              </a:ext>
            </a:extLst>
          </p:cNvPr>
          <p:cNvSpPr>
            <a:spLocks noGrp="1"/>
          </p:cNvSpPr>
          <p:nvPr/>
        </p:nvSpPr>
        <p:spPr>
          <a:xfrm>
            <a:off x="6362700" y="23241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Accountable platform ownership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10DC5A-3158-4516-AE15-024F4823385C}"/>
              </a:ext>
            </a:extLst>
          </p:cNvPr>
          <p:cNvSpPr>
            <a:spLocks noGrp="1"/>
          </p:cNvSpPr>
          <p:nvPr/>
        </p:nvSpPr>
        <p:spPr>
          <a:xfrm>
            <a:off x="6362700" y="26098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Clear product, architecture and service ownership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2DF7CC15-B089-4842-9857-6DEC9D5C6C01}"/>
              </a:ext>
            </a:extLst>
          </p:cNvPr>
          <p:cNvSpPr>
            <a:spLocks noGrp="1"/>
          </p:cNvSpPr>
          <p:nvPr/>
        </p:nvSpPr>
        <p:spPr>
          <a:xfrm>
            <a:off x="5676900" y="30099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909805-6793-4E25-9963-586EAB40B15E}"/>
              </a:ext>
            </a:extLst>
          </p:cNvPr>
          <p:cNvSpPr>
            <a:spLocks noGrp="1"/>
          </p:cNvSpPr>
          <p:nvPr/>
        </p:nvSpPr>
        <p:spPr>
          <a:xfrm>
            <a:off x="5676900" y="3162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385AC6-ECC8-4735-8D72-B1C48ED6842A}"/>
              </a:ext>
            </a:extLst>
          </p:cNvPr>
          <p:cNvSpPr>
            <a:spLocks noGrp="1"/>
          </p:cNvSpPr>
          <p:nvPr/>
        </p:nvSpPr>
        <p:spPr>
          <a:xfrm>
            <a:off x="6362700" y="31623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Security and policy 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9C0FC-2644-4E67-B64E-9999F5854D78}"/>
              </a:ext>
            </a:extLst>
          </p:cNvPr>
          <p:cNvSpPr>
            <a:spLocks noGrp="1"/>
          </p:cNvSpPr>
          <p:nvPr/>
        </p:nvSpPr>
        <p:spPr>
          <a:xfrm>
            <a:off x="6362700" y="34480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Approved authoring, tenant isolation and access rules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F4B41E69-77F2-4130-AFAC-D48EC8922716}"/>
              </a:ext>
            </a:extLst>
          </p:cNvPr>
          <p:cNvSpPr>
            <a:spLocks noGrp="1"/>
          </p:cNvSpPr>
          <p:nvPr/>
        </p:nvSpPr>
        <p:spPr>
          <a:xfrm>
            <a:off x="5676900" y="38481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6491EF2-CE0B-472F-93C7-589EE0414E6F}"/>
              </a:ext>
            </a:extLst>
          </p:cNvPr>
          <p:cNvSpPr>
            <a:spLocks noGrp="1"/>
          </p:cNvSpPr>
          <p:nvPr/>
        </p:nvSpPr>
        <p:spPr>
          <a:xfrm>
            <a:off x="5676900" y="40005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≋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80DDB8-647E-4BE0-B7CF-557DC7E4067B}"/>
              </a:ext>
            </a:extLst>
          </p:cNvPr>
          <p:cNvSpPr>
            <a:spLocks noGrp="1"/>
          </p:cNvSpPr>
          <p:nvPr/>
        </p:nvSpPr>
        <p:spPr>
          <a:xfrm>
            <a:off x="6362700" y="40005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Operational governance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9FF764-A8E8-42B7-A5F7-C152CFC2E3AE}"/>
              </a:ext>
            </a:extLst>
          </p:cNvPr>
          <p:cNvSpPr>
            <a:spLocks noGrp="1"/>
          </p:cNvSpPr>
          <p:nvPr/>
        </p:nvSpPr>
        <p:spPr>
          <a:xfrm>
            <a:off x="6362700" y="42862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Observability, support, quotas and lifecycle controls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15F182F-5D98-4F23-BD5A-B21A8CDE4607}"/>
              </a:ext>
            </a:extLst>
          </p:cNvPr>
          <p:cNvSpPr>
            <a:spLocks noGrp="1"/>
          </p:cNvSpPr>
          <p:nvPr/>
        </p:nvSpPr>
        <p:spPr>
          <a:xfrm>
            <a:off x="5676900" y="4686300"/>
            <a:ext cx="55245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A403A5-CE1F-4418-9513-D781D05B20F7}"/>
              </a:ext>
            </a:extLst>
          </p:cNvPr>
          <p:cNvSpPr>
            <a:spLocks noGrp="1"/>
          </p:cNvSpPr>
          <p:nvPr/>
        </p:nvSpPr>
        <p:spPr>
          <a:xfrm>
            <a:off x="5676900" y="48387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↻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E5F4A1-CF49-4731-A47E-39E94374FE3E}"/>
              </a:ext>
            </a:extLst>
          </p:cNvPr>
          <p:cNvSpPr>
            <a:spLocks noGrp="1"/>
          </p:cNvSpPr>
          <p:nvPr/>
        </p:nvSpPr>
        <p:spPr>
          <a:xfrm>
            <a:off x="6362700" y="48387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Governed self-service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D42847-FBA2-4B05-9CD6-78E7E0CE31F9}"/>
              </a:ext>
            </a:extLst>
          </p:cNvPr>
          <p:cNvSpPr>
            <a:spLocks noGrp="1"/>
          </p:cNvSpPr>
          <p:nvPr/>
        </p:nvSpPr>
        <p:spPr>
          <a:xfrm>
            <a:off x="6362700" y="51244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API owners move quickly inside enterprise guardrails</a:t>
            </a:r>
          </a:p>
        </p:txBody>
      </p:sp>
    </p:spTree>
    <p:extLst>
      <p:ext uri="{BB962C8B-B14F-4D97-AF65-F5344CB8AC3E}">
        <p14:creationId xmlns:p14="http://schemas.microsoft.com/office/powerpoint/2010/main" val="76950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-10-title">
            <a:extLst>
              <a:ext uri="{FF2B5EF4-FFF2-40B4-BE49-F238E27FC236}">
                <a16:creationId xmlns:a16="http://schemas.microsoft.com/office/drawing/2014/main" id="{8579DEC3-C67F-4561-8290-8C08A841B402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1043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7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Approve the HSBC-owned Direction and Stage the Commitment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7F0A89-130C-427A-9015-0A1D691B865E}"/>
              </a:ext>
            </a:extLst>
          </p:cNvPr>
          <p:cNvSpPr>
            <a:spLocks noGrp="1"/>
          </p:cNvSpPr>
          <p:nvPr/>
        </p:nvSpPr>
        <p:spPr>
          <a:xfrm>
            <a:off x="11125200" y="36195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050" b="1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58D9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294EE52-B95C-4B92-8828-24F8BDD3FF85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20140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3E5B60-AD65-40E5-802D-77E2C99D5FCB}"/>
              </a:ext>
            </a:extLst>
          </p:cNvPr>
          <p:cNvSpPr>
            <a:spLocks noGrp="1"/>
          </p:cNvSpPr>
          <p:nvPr/>
        </p:nvSpPr>
        <p:spPr>
          <a:xfrm>
            <a:off x="8553450" y="1009650"/>
            <a:ext cx="3143250" cy="342900"/>
          </a:xfrm>
          <a:prstGeom prst="roundRect">
            <a:avLst>
              <a:gd name="adj" fmla="val 50000"/>
            </a:avLst>
          </a:prstGeom>
          <a:solidFill>
            <a:srgbClr val="E8F3EF"/>
          </a:solidFill>
          <a:ln w="9525">
            <a:solidFill>
              <a:srgbClr val="B7D6CA"/>
            </a:solidFill>
            <a:prstDash val="solid"/>
          </a:ln>
        </p:spPr>
        <p:txBody>
          <a:bodyPr lIns="95250" tIns="28575" rIns="95250" bIns="28575" anchor="ctr">
            <a:normAutofit/>
          </a:bodyPr>
          <a:lstStyle/>
          <a:p>
            <a:pPr algn="ctr">
              <a:defRPr sz="1050">
                <a:solidFill>
                  <a:srgbClr val="385F52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385F52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6CED0-783A-47E3-80AB-CA59A225A211}"/>
              </a:ext>
            </a:extLst>
          </p:cNvPr>
          <p:cNvSpPr>
            <a:spLocks noGrp="1"/>
          </p:cNvSpPr>
          <p:nvPr/>
        </p:nvSpPr>
        <p:spPr>
          <a:xfrm>
            <a:off x="495300" y="6543675"/>
            <a:ext cx="3429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SmartSandbox Architecture Decision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E4467-8352-447B-80B3-A93C7A9A68C8}"/>
              </a:ext>
            </a:extLst>
          </p:cNvPr>
          <p:cNvSpPr>
            <a:spLocks noGrp="1"/>
          </p:cNvSpPr>
          <p:nvPr/>
        </p:nvSpPr>
        <p:spPr>
          <a:xfrm>
            <a:off x="9220200" y="6543675"/>
            <a:ext cx="24765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0">
                <a:solidFill>
                  <a:srgbClr val="858D9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58D97"/>
                </a:solidFill>
                <a:latin typeface="Arial"/>
                <a:ea typeface="Arial"/>
                <a:cs typeface="Arial"/>
              </a:rPr>
              <a:t>Architecture Review 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44E5B-CA12-4A22-99A0-C5E0B3F2BA1A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Architecture decision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CCF361-259E-4ECC-99B9-B3B3C9C0702E}"/>
              </a:ext>
            </a:extLst>
          </p:cNvPr>
          <p:cNvSpPr>
            <a:spLocks noGrp="1"/>
          </p:cNvSpPr>
          <p:nvPr/>
        </p:nvSpPr>
        <p:spPr>
          <a:xfrm>
            <a:off x="495300" y="2038350"/>
            <a:ext cx="4953000" cy="3657600"/>
          </a:xfrm>
          <a:prstGeom prst="roundRect">
            <a:avLst>
              <a:gd name="adj" fmla="val 5729"/>
            </a:avLst>
          </a:prstGeom>
          <a:solidFill>
            <a:srgbClr val="FFFFFF"/>
          </a:solidFill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50E671-FF76-460C-AD6F-ECCAD900ED3A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52723-9354-4B59-A78A-F2A4FAF8F41B}"/>
              </a:ext>
            </a:extLst>
          </p:cNvPr>
          <p:cNvSpPr>
            <a:spLocks noGrp="1"/>
          </p:cNvSpPr>
          <p:nvPr/>
        </p:nvSpPr>
        <p:spPr>
          <a:xfrm>
            <a:off x="1771650" y="2457450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1370F-6BE8-4D39-A763-0E68210AE1CE}"/>
              </a:ext>
            </a:extLst>
          </p:cNvPr>
          <p:cNvSpPr>
            <a:spLocks noGrp="1"/>
          </p:cNvSpPr>
          <p:nvPr/>
        </p:nvSpPr>
        <p:spPr>
          <a:xfrm>
            <a:off x="838200" y="3257550"/>
            <a:ext cx="4038600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HSBC Developer Portal</a:t>
            </a: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+</a:t>
            </a: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SmartMock Runtime</a:t>
            </a: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+</a:t>
            </a:r>
          </a:p>
          <a:p>
            <a:pPr algn="ctr">
              <a:lnSpc>
                <a:spcPct val="108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SmartSandbox Evolution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62278-07AF-4FFC-A91E-F56087B44FBE}"/>
              </a:ext>
            </a:extLst>
          </p:cNvPr>
          <p:cNvSpPr>
            <a:spLocks noGrp="1"/>
          </p:cNvSpPr>
          <p:nvPr/>
        </p:nvSpPr>
        <p:spPr>
          <a:xfrm>
            <a:off x="838200" y="5162550"/>
            <a:ext cx="403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Outcome: an HSBC-owned enterprise API simulation capability.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1AFF7A-49A2-4C7F-B3F4-328A48BA4DC3}"/>
              </a:ext>
            </a:extLst>
          </p:cNvPr>
          <p:cNvSpPr>
            <a:spLocks noGrp="1"/>
          </p:cNvSpPr>
          <p:nvPr/>
        </p:nvSpPr>
        <p:spPr>
          <a:xfrm>
            <a:off x="5753100" y="1409700"/>
            <a:ext cx="5943600" cy="47625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28575">
            <a:solidFill>
              <a:srgbClr val="DB001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02872-C9AE-46FC-9596-5D6AD664B42A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Stage the commitment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EE2EC2-70B9-4661-BE8E-BE7CC3C1A8E9}"/>
              </a:ext>
            </a:extLst>
          </p:cNvPr>
          <p:cNvSpPr>
            <a:spLocks noGrp="1"/>
          </p:cNvSpPr>
          <p:nvPr/>
        </p:nvSpPr>
        <p:spPr>
          <a:xfrm>
            <a:off x="6153150" y="24384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F1014B-C861-47A8-97E6-D8871E976092}"/>
              </a:ext>
            </a:extLst>
          </p:cNvPr>
          <p:cNvSpPr>
            <a:spLocks noGrp="1"/>
          </p:cNvSpPr>
          <p:nvPr/>
        </p:nvSpPr>
        <p:spPr>
          <a:xfrm>
            <a:off x="6896100" y="24288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Productise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0F6CF3-B55E-4AF2-B423-8A7519EB7953}"/>
              </a:ext>
            </a:extLst>
          </p:cNvPr>
          <p:cNvSpPr>
            <a:spLocks noGrp="1"/>
          </p:cNvSpPr>
          <p:nvPr/>
        </p:nvSpPr>
        <p:spPr>
          <a:xfrm>
            <a:off x="6896100" y="276225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Lifecycle, isolation and a supportable service model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E8485FA-5348-49DC-80DB-9242CC3DC8FB}"/>
              </a:ext>
            </a:extLst>
          </p:cNvPr>
          <p:cNvSpPr>
            <a:spLocks noGrp="1"/>
          </p:cNvSpPr>
          <p:nvPr/>
        </p:nvSpPr>
        <p:spPr>
          <a:xfrm>
            <a:off x="6153150" y="3352800"/>
            <a:ext cx="504825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AB206E-FBB4-403E-8F4A-376EBEC8314D}"/>
              </a:ext>
            </a:extLst>
          </p:cNvPr>
          <p:cNvSpPr>
            <a:spLocks noGrp="1"/>
          </p:cNvSpPr>
          <p:nvPr/>
        </p:nvSpPr>
        <p:spPr>
          <a:xfrm>
            <a:off x="6153150" y="356235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41D46-E651-42A5-8926-4E64FAC08EC3}"/>
              </a:ext>
            </a:extLst>
          </p:cNvPr>
          <p:cNvSpPr>
            <a:spLocks noGrp="1"/>
          </p:cNvSpPr>
          <p:nvPr/>
        </p:nvSpPr>
        <p:spPr>
          <a:xfrm>
            <a:off x="6896100" y="35528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Govern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526F5D-EDBD-4578-AC53-0E7B9B426EE6}"/>
              </a:ext>
            </a:extLst>
          </p:cNvPr>
          <p:cNvSpPr>
            <a:spLocks noGrp="1"/>
          </p:cNvSpPr>
          <p:nvPr/>
        </p:nvSpPr>
        <p:spPr>
          <a:xfrm>
            <a:off x="6896100" y="388620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Ownership, policy, observability and operational controls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6E7D27D-F1BF-488D-8F78-D20BFD2462F4}"/>
              </a:ext>
            </a:extLst>
          </p:cNvPr>
          <p:cNvSpPr>
            <a:spLocks noGrp="1"/>
          </p:cNvSpPr>
          <p:nvPr/>
        </p:nvSpPr>
        <p:spPr>
          <a:xfrm>
            <a:off x="6153150" y="4476750"/>
            <a:ext cx="5048250" cy="0"/>
          </a:xfrm>
          <a:prstGeom prst="line">
            <a:avLst/>
          </a:prstGeom>
          <a:noFill/>
          <a:ln w="9525">
            <a:solidFill>
              <a:srgbClr val="DDE2E5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1F5F94E-E07F-479F-82F8-A3E853D2AB82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5F6"/>
          </a:solidFill>
          <a:ln w="16193">
            <a:solidFill>
              <a:srgbClr val="DB0011"/>
            </a:solidFill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75" b="1">
                <a:solidFill>
                  <a:srgbClr val="DB00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B00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C16D8D-061A-4A68-99B3-4BEA4AE12D80}"/>
              </a:ext>
            </a:extLst>
          </p:cNvPr>
          <p:cNvSpPr>
            <a:spLocks noGrp="1"/>
          </p:cNvSpPr>
          <p:nvPr/>
        </p:nvSpPr>
        <p:spPr>
          <a:xfrm>
            <a:off x="6896100" y="467677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0121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214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168D89-8B58-4D0E-ACE1-765CC77670E0}"/>
              </a:ext>
            </a:extLst>
          </p:cNvPr>
          <p:cNvSpPr>
            <a:spLocks noGrp="1"/>
          </p:cNvSpPr>
          <p:nvPr/>
        </p:nvSpPr>
        <p:spPr>
          <a:xfrm>
            <a:off x="6896100" y="5010150"/>
            <a:ext cx="4000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26A7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A74"/>
                </a:solidFill>
                <a:latin typeface="Arial"/>
                <a:ea typeface="Arial"/>
                <a:cs typeface="Arial"/>
              </a:rPr>
              <a:t>Extend through validated enterprise API domains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1FA5EA-0FE6-46F7-A01E-6B8C77DE9D5B}"/>
              </a:ext>
            </a:extLst>
          </p:cNvPr>
          <p:cNvSpPr>
            <a:spLocks noGrp="1"/>
          </p:cNvSpPr>
          <p:nvPr/>
        </p:nvSpPr>
        <p:spPr>
          <a:xfrm>
            <a:off x="6153150" y="5619750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>
                <a:solidFill>
                  <a:srgbClr val="B000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00012"/>
                </a:solidFill>
                <a:latin typeface="Arial"/>
                <a:ea typeface="Arial"/>
                <a:cs typeface="Arial"/>
              </a:rPr>
              <a:t>DAC remains a credible Open Banking sandbox; SmartMock / SmartSandbox is the strategic enterprise direction.</a:t>
            </a:r>
          </a:p>
        </p:txBody>
      </p:sp>
    </p:spTree>
    <p:extLst>
      <p:ext uri="{BB962C8B-B14F-4D97-AF65-F5344CB8AC3E}">
        <p14:creationId xmlns:p14="http://schemas.microsoft.com/office/powerpoint/2010/main" val="11739449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1074</Words>
  <Application>Microsoft Macintosh PowerPoint</Application>
  <DocSecurity>0</DocSecurity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Jiang Zhao</cp:lastModifiedBy>
  <cp:revision>1</cp:revision>
  <dcterms:created xsi:type="dcterms:W3CDTF">2026-07-17T08:17:06Z</dcterms:created>
  <dcterms:modified xsi:type="dcterms:W3CDTF">2026-07-17T08:22:44Z</dcterms:modified>
</cp:coreProperties>
</file>