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deck goes deeper into platform boundaries, provisioning flow, runtime behavior, isolation, authoring controls, market position, and roadmap gates.
- The purpose is to validate the target architecture and confirm which technical decisions must be locked before Phase 0 and Phase 1.
[Sources]
- Internal: Smart-Mock-Execution-Engine-Overview (1).md
- Internal: ChatGPT-SmartSandbox summary.md
- Internal: ChatGPT-Sandbox in developer portal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These are the architecture decisions that shape every later implementation choice.
- The most important board question is not whether SmartMock is useful; it is whether the platform layers and authoring controls are strong enough for external partner use.
- The decisions here intentionally limit scope creep by making programmable authoring gated rather than universal.
[Sources]
- Internal: SmartSandbox_Architecture_Section_Consolidated.md
- Internal: Smart-Mock-Execution-Engine-Overview (1).md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slide is the runtime baseline the board should treat as proven capability.
- The architecture already provides dynamic endpoint behavior, OpenAPI-driven provisioning, and hot update mechanics.
- The board should also note the security caveat: the runtime docs themselves do not present Groovy as safely sandboxed for broad external programmable use.
[Sources]
- Internal: Smart-Mock-Execution-Engine-Overview (1).md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slide is the central argument for building SmartSandbox around SmartMock rather than replacing it.
- The value of SmartMock is in runtime execution. The value missing for SmartSandbox is lifecycle, isolation, observability, portal workflow, and secure externalization.
- That distinction matters because it changes the staffing profile and reduces rewrite risk.
[Sources]
- Internal: Smart-Mock-Execution-Engine-Overview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layering is deliberate because it reduces coupling between developer portal workflows and runtime execution semantics.
- It also creates a cleaner security model: control-plane permissions can be separated from runtime authoring and execution permissions.
[Sources]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is the detailed target architecture: portal, edge, control plane, namespace-per-sandbox, runtime, data, webhooks, and observability.
- The board should focus on whether any component belongs in a different trust boundary or whether any missing control-plane capability would become an operational blocker.
[Sources]
- Internal: SmartSandbox_Architecture_Section_Consolidated.md
- Internal: ChatGPT-SmartSandbox summary.md
- Internal: ChatGPT-Sandbox in developer portal (1).md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provisioning path is where operational and security errors become very expensive later, so the board should scrutinize it carefully.
- The critical questions are idempotency, failure recovery, and whether external OpenAPI imports are validated before or during sandbox creation.
[Sources]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is the per-request path the board should review for determinism, security boundary, and observability quality.
- The goal is for runtime execution to stay simple enough to reason about while still supporting higher-fidelity partner testing such as webhooks and dependency virtualization.
[Sources]
- Internal: Smart-Mock-Execution-Engine-Overview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authoring model is the main security decision in this proposal.
- The recommendation is to make safe UI-based authoring the norm and keep raw Groovy as a policy-controlled advanced mode.
- This preserves differentiation without turning the first external release into an arbitrary-code platform.
[Sources]
- Internal: Smart-Mock-Execution-Engine-Overview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slide turns the architecture into an operating model with explicit trust boundaries.
- The default recommendation is namespace-per-sandbox in a separate sandbox environment, with stronger runtime isolation reserved for policy-driven exceptions.
[Sources]
- Internal: ChatGPT-Sandbox in developer portal (1).md
- Internal: SmartSandbox_Architecture_Section_Consolidated.md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board should see the market in two clusters: lightweight mock tools and richer simulation or virtualization tools.
- SmartSandbox sits above both only if we really deliver isolation, portal-native operations, replay, and partner-oriented workflows.
- The strategic risk is being judged as a heavier and later mock server rather than as a differentiated sandbox platform.
[Sources]
- External: https://docs.wiremock.io/overview
- External: https://docs.wiremock.io/openAPI/openapi
- External: https://wiremock.org/docs/stateful-behaviour/
- External: https://microcks.io/
- External: https://learning.postman.com/docs/design-apis/mock-apis/tutorials/mock-with-examples
- External: https://learning.postman.com/docs/design-apis/mock-apis/matching-algorithm
- External: https://learning.postman.com/docs/design-apis/mock-apis/create-dynamic-responses
- External: https://stoplight.io/open-source/prism
- External: https://docs.apidog.com/mock-api-data-in-apidog-617869m0
- External: https://docs.apidog.com/mock-scripts-618209m0
- External: https://docs.mulesoft.com/api-experience-hub/simulating-api-calls-using-the-mocking-service
- External: https://smartbear.com/product/ready-api/api-virtualization/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This table is a directional synthesis of what each product emphasizes in its reviewed documentation.
- It is useful for board-level build-vs-buy framing, but should not be mistaken for a procurement scorecard or lab benchmark.
- The main board conclusion should be that our proposal wins only if isolation, portal-native workflow, and partner observability are real in phase 1 and phase 2.
[Sources]
- External: https://docs.wiremock.io/overview
- External: https://docs.wiremock.io/openAPI/openapi
- External: https://microcks.io/
- External: https://learning.postman.com/docs/design-apis/mock-apis/tutorials/mock-with-examples
- External: https://learning.postman.com/docs/design-apis/mock-apis/matching-algorithm
- External: https://stoplight.io/open-source/prism
- External: https://docs.apidog.com/mock-api-data-in-apidog-617869m0
- External: https://docs.apidog.com/mock-scripts-618209m0
- External: https://docs.mulesoft.com/api-experience-hub/simulating-api-calls-using-the-mocking-service
- External: https://smartbear.com/product/ready-api/api-virtualization/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
- The board does not need to approve every later differentiator now, but it does need to approve the architecture boundary, isolation default, and the policy approach to advanced authoring.
- Phase 0 and Phase 1 are the minimum coherent path to a production-grade SmartSandbox baseline.
[Sources]
- Internal: SmartSandbox_Architecture_Section_Consolidated.md
- Internal: ChatGPT-SmartSandbox summary.md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4754880" cy="5486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0" y="640080"/>
            <a:ext cx="64008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9144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418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SmartSandbox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SmartSandbox Proposal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 review: retained SmartMock core, isolated runtime per sandbox, portal-native control plane, and phased security-first delivery.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5074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architect board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5486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SmartMock today → SmartSandbox target → market view → roadmap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91440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mnt/data/smartsandbox_ppt/assets/detailed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141466"/>
            <a:ext cx="5486400" cy="23007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60720" y="54406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architecture view embedded in deck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66960" y="6309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proposal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principles and target decisions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Guiding choices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1234440"/>
            <a:ext cx="214884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13441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Retain SmartMock 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1664208"/>
            <a:ext cx="189280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existing execution engine for dynamic endpoint behavior instead of rewriting the runtime layer.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72384" y="1234440"/>
            <a:ext cx="214884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3441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One runtime per sandbox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1664208"/>
            <a:ext cx="189280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78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 requirement plus external customization both point to a dedicated runtime for each sandbox.</a:t>
            </a:r>
            <a:endParaRPr lang="en-US" sz="1178" dirty="0"/>
          </a:p>
        </p:txBody>
      </p:sp>
      <p:sp>
        <p:nvSpPr>
          <p:cNvPr id="16" name="Shape 14"/>
          <p:cNvSpPr/>
          <p:nvPr/>
        </p:nvSpPr>
        <p:spPr>
          <a:xfrm>
            <a:off x="5394960" y="1234440"/>
            <a:ext cx="214884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22976" y="13441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Namespace default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22976" y="1664208"/>
            <a:ext cx="189280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namespace-per-sandbox is the default operating model; stronger runtime classes remain optional.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17536" y="1234440"/>
            <a:ext cx="214884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845552" y="134416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Safe authoring first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45552" y="1664208"/>
            <a:ext cx="189280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28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users get UI/DSL-based authoring; raw Groovy is a gated advanced mode with policy and audit.</a:t>
            </a:r>
            <a:endParaRPr lang="en-US" sz="1128" dirty="0"/>
          </a:p>
        </p:txBody>
      </p:sp>
      <p:sp>
        <p:nvSpPr>
          <p:cNvPr id="22" name="Shape 20"/>
          <p:cNvSpPr/>
          <p:nvPr/>
        </p:nvSpPr>
        <p:spPr>
          <a:xfrm>
            <a:off x="10040112" y="1234440"/>
            <a:ext cx="182880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68128" y="13441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Phase-gated rollout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8128" y="1664208"/>
            <a:ext cx="157276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hardening and platform controls precede broad programmable third-party usage.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3154680"/>
            <a:ext cx="1069848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 focus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98755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513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the platform boundary: what stays inside SmartMock vs what sits in the control plane.</a:t>
            </a:r>
            <a:endParaRPr lang="en-US" sz="1513" dirty="0"/>
          </a:p>
          <a:p>
            <a:pPr indent="0" marL="0">
              <a:buNone/>
            </a:pPr>
            <a:r>
              <a:rPr lang="en-US" sz="1513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isolation, tenancy, and database strategy for an unknown but enterprise-scale partner population.</a:t>
            </a:r>
            <a:endParaRPr lang="en-US" sz="1513" dirty="0"/>
          </a:p>
          <a:p>
            <a:pPr indent="0" marL="0">
              <a:buNone/>
            </a:pPr>
            <a:r>
              <a:rPr lang="en-US" sz="1513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the security posture for external authoring and whether advanced Groovy should remain optional.</a:t>
            </a:r>
            <a:endParaRPr lang="en-US" sz="1513" dirty="0"/>
          </a:p>
          <a:p>
            <a:pPr indent="0" marL="0">
              <a:buNone/>
            </a:pPr>
            <a:r>
              <a:rPr lang="en-US" sz="1513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Validate that the roadmap gates are sufficient before exposing a programmable sandbox broadly.</a:t>
            </a:r>
            <a:endParaRPr lang="en-US" sz="15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SmartMock current runtime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 baseline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15568"/>
            <a:ext cx="699516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smartmock_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59737"/>
            <a:ext cx="6775704" cy="345856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5998464"/>
            <a:ext cx="6739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Mermaid diagram derived from SmartMock runtime documentation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1261872"/>
            <a:ext cx="3520440" cy="2423160"/>
          </a:xfrm>
          <a:prstGeom prst="roundRect">
            <a:avLst>
              <a:gd name="adj" fmla="val 226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037576" y="137160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capability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37576" y="1691640"/>
            <a:ext cx="3264408" cy="1892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34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Spring MVC mapping</a:t>
            </a:r>
            <a:endParaRPr lang="en-US" sz="1334" dirty="0"/>
          </a:p>
          <a:p>
            <a:pPr indent="0" marL="0">
              <a:buNone/>
            </a:pPr>
            <a:r>
              <a:rPr lang="en-US" sz="1334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import and template generation</a:t>
            </a:r>
            <a:endParaRPr lang="en-US" sz="1334" dirty="0"/>
          </a:p>
          <a:p>
            <a:pPr indent="0" marL="0">
              <a:buNone/>
            </a:pPr>
            <a:r>
              <a:rPr lang="en-US" sz="1334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Groovy compile, cache, and hot reload</a:t>
            </a:r>
            <a:endParaRPr lang="en-US" sz="1334" dirty="0"/>
          </a:p>
          <a:p>
            <a:pPr indent="0" marL="0">
              <a:buNone/>
            </a:pPr>
            <a:r>
              <a:rPr lang="en-US" sz="1334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validation orchestration</a:t>
            </a:r>
            <a:endParaRPr lang="en-US" sz="1334" dirty="0"/>
          </a:p>
          <a:p>
            <a:pPr indent="0" marL="0">
              <a:buNone/>
            </a:pPr>
            <a:r>
              <a:rPr lang="en-US" sz="1334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proxy</a:t>
            </a:r>
            <a:endParaRPr lang="en-US" sz="1334" dirty="0"/>
          </a:p>
          <a:p>
            <a:pPr indent="0" marL="0">
              <a:buNone/>
            </a:pPr>
            <a:r>
              <a:rPr lang="en-US" sz="1334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Templates, env params, mock data, common functions</a:t>
            </a:r>
            <a:endParaRPr lang="en-US" sz="1334" dirty="0"/>
          </a:p>
        </p:txBody>
      </p:sp>
      <p:sp>
        <p:nvSpPr>
          <p:cNvPr id="16" name="Shape 13"/>
          <p:cNvSpPr/>
          <p:nvPr/>
        </p:nvSpPr>
        <p:spPr>
          <a:xfrm>
            <a:off x="7909560" y="3913632"/>
            <a:ext cx="3520440" cy="1783080"/>
          </a:xfrm>
          <a:prstGeom prst="roundRect">
            <a:avLst>
              <a:gd name="adj" fmla="val 3077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37576" y="40233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risk notes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37576" y="4343400"/>
            <a:ext cx="3264408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88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security is not shown as sandboxed in the runtime notes. The executor assumes upstream authentication and is not yet designed as an external multi-tenant programmable platform.</a:t>
            </a:r>
            <a:endParaRPr lang="en-US" sz="12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Gap analysis: SmartMock vs SmartSandbox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added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114300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8FFFC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14300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DF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371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in SmartMock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65392" y="1371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240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Must be added in SmartSandbox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0120" y="1783080"/>
            <a:ext cx="448056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Dynamic endpoint lifecycle management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OpenAPI import and reusable templates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Groovy runtime behavior and hot reload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Schema validation and forwarding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In-memory managers for env, mock data, and common functions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No-restart refresh of endpoint behavior</a:t>
            </a:r>
            <a:endParaRPr lang="en-US" sz="1495" dirty="0"/>
          </a:p>
        </p:txBody>
      </p:sp>
      <p:sp>
        <p:nvSpPr>
          <p:cNvPr id="15" name="Text 13"/>
          <p:cNvSpPr/>
          <p:nvPr/>
        </p:nvSpPr>
        <p:spPr>
          <a:xfrm>
            <a:off x="6565392" y="1783080"/>
            <a:ext cx="448056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Sandbox Manager APIs and control plane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Namespace / ingress / secret / quota provisioning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Seeded synthetic data and scenario launcher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Webhook queue, retry, DLQ, and replay UX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Portal logs, traces, and request replay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Tenant-safe external authoring controls and policy</a:t>
            </a:r>
            <a:endParaRPr lang="en-US" sz="1495" dirty="0"/>
          </a:p>
          <a:p>
            <a:pPr indent="0" marL="0">
              <a:buNone/>
            </a:pPr>
            <a:r>
              <a:rPr lang="en-US" sz="1495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TTL, cost governance, and cleanup automation</a:t>
            </a:r>
            <a:endParaRPr lang="en-US" sz="1495" dirty="0"/>
          </a:p>
        </p:txBody>
      </p:sp>
      <p:sp>
        <p:nvSpPr>
          <p:cNvPr id="16" name="Shape 14"/>
          <p:cNvSpPr/>
          <p:nvPr/>
        </p:nvSpPr>
        <p:spPr>
          <a:xfrm>
            <a:off x="5861304" y="2907792"/>
            <a:ext cx="457200" cy="530352"/>
          </a:xfrm>
          <a:prstGeom prst="chevron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5650992"/>
            <a:ext cx="10040112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815584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interpretation — the gap is primarily platformization, tenancy, and secure externalization of capabilities, not the absence of a runtime core.</a:t>
            </a:r>
            <a:endParaRPr lang="en-US" sz="12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SmartMock ↔ SmartSandbox layering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boundary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78181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relations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01310"/>
            <a:ext cx="7598664" cy="26530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5248656"/>
            <a:ext cx="75620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platform layers surrounding the retained SmartMock runtime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32520" y="1261872"/>
            <a:ext cx="2743200" cy="192024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860536" y="13716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rule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60536" y="1691640"/>
            <a:ext cx="2487168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9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responsibilities stay outside the runtime: lifecycle, tenancy, ingress, keys, quotas, seeded data, logs, replay, and portal orchestration.</a:t>
            </a:r>
            <a:endParaRPr lang="en-US" sz="1297" dirty="0"/>
          </a:p>
        </p:txBody>
      </p:sp>
      <p:sp>
        <p:nvSpPr>
          <p:cNvPr id="16" name="Shape 13"/>
          <p:cNvSpPr/>
          <p:nvPr/>
        </p:nvSpPr>
        <p:spPr>
          <a:xfrm>
            <a:off x="8732520" y="3429000"/>
            <a:ext cx="2743200" cy="192024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860536" y="353872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rule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60536" y="3858768"/>
            <a:ext cx="2487168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29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execution stays inside SmartMock: endpoint mapping, scripts, validation, forwarding, template and data helpers.</a:t>
            </a:r>
            <a:endParaRPr lang="en-US" sz="1297" dirty="0"/>
          </a:p>
        </p:txBody>
      </p:sp>
      <p:sp>
        <p:nvSpPr>
          <p:cNvPr id="19" name="Shape 16"/>
          <p:cNvSpPr/>
          <p:nvPr/>
        </p:nvSpPr>
        <p:spPr>
          <a:xfrm>
            <a:off x="868680" y="5559552"/>
            <a:ext cx="1046988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6696" y="5669280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96696" y="5989320"/>
            <a:ext cx="1021384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separation lets the board review control-plane hardening and runtime hardening independently.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logical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component 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1051560"/>
            <a:ext cx="10972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detailed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767" y="1161288"/>
            <a:ext cx="9964850" cy="4178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" y="5385816"/>
            <a:ext cx="10716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component architecture for the recommended SmartSandbox design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5650992"/>
            <a:ext cx="1042416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5824728"/>
            <a:ext cx="10104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Board checks — validate control-plane scope, namespace-per-sandbox isolation, SmartMock runtime boundaries, webhook path, and observability handoff.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Provisioning and activation flow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Control-plane sequence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8138160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provisionin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65052"/>
            <a:ext cx="7918704" cy="1502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4425696"/>
            <a:ext cx="7882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Provisioning sequence from portal request to ready sandbox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98280" y="1261872"/>
            <a:ext cx="233172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226296" y="137160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control-plane steps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26296" y="1691640"/>
            <a:ext cx="20756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66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request → create namespace / secrets / ingress → deploy runtime → seed database → return URL, key, expiry, and scenarios.</a:t>
            </a:r>
            <a:endParaRPr lang="en-US" sz="1166" dirty="0"/>
          </a:p>
        </p:txBody>
      </p:sp>
      <p:sp>
        <p:nvSpPr>
          <p:cNvPr id="16" name="Shape 13"/>
          <p:cNvSpPr/>
          <p:nvPr/>
        </p:nvSpPr>
        <p:spPr>
          <a:xfrm>
            <a:off x="9098280" y="3154680"/>
            <a:ext cx="2331720" cy="1691640"/>
          </a:xfrm>
          <a:prstGeom prst="roundRect">
            <a:avLst>
              <a:gd name="adj" fmla="val 3243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226296" y="326440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 checks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26296" y="3584448"/>
            <a:ext cx="2075688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provisioning, teardown reliability, TTL cleanup, ingress registration, and dependency ordering between runtime deployment and seed jobs.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5029200"/>
            <a:ext cx="10424160" cy="987552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6696" y="5138928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question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96696" y="5458968"/>
            <a:ext cx="10168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imported third-party OpenAPI be validated and normalized before a runtime is provisioned, or accepted as part of the sandbox creation path?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request execution flow inside one sandbox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1083564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runtim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11183"/>
            <a:ext cx="10616184" cy="26389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4654296"/>
            <a:ext cx="10579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handling, scenario controls, helper services, logs, and webhook delivery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5138928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6696" y="5248656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path concerns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6696" y="5568696"/>
            <a:ext cx="45902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validation latency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determinism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 capability boundaries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correlation IDs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retry / DLQ behavior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97880" y="5138928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25896" y="5248656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 interpretation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025896" y="5568696"/>
            <a:ext cx="51389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flow proves SmartMock can remain the behavior engine while SmartSandbox adds higher-order controls around 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Authoring model and security controls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Default-safe, advanced-gated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143000"/>
            <a:ext cx="653796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authoring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89210"/>
            <a:ext cx="6318504" cy="12828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4654296"/>
            <a:ext cx="6281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safe UI path and gated advanced Groovy path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52360" y="1261872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580376" y="137160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mode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80376" y="1691640"/>
            <a:ext cx="372160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1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for most partners: templates, rules, fixtures, scenarios, chaos toggles, and webhook config through a safe UI or DSL.</a:t>
            </a:r>
            <a:endParaRPr lang="en-US" sz="1317" dirty="0"/>
          </a:p>
        </p:txBody>
      </p:sp>
      <p:sp>
        <p:nvSpPr>
          <p:cNvPr id="16" name="Shape 13"/>
          <p:cNvSpPr/>
          <p:nvPr/>
        </p:nvSpPr>
        <p:spPr>
          <a:xfrm>
            <a:off x="7452360" y="283464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80376" y="2944368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mode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80376" y="3264408"/>
            <a:ext cx="372160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17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tenants only: Groovy editor behind feature flags, validation, versioning, audit, and stricter runtime policy.</a:t>
            </a:r>
            <a:endParaRPr lang="en-US" sz="1317" dirty="0"/>
          </a:p>
        </p:txBody>
      </p:sp>
      <p:sp>
        <p:nvSpPr>
          <p:cNvPr id="19" name="Shape 16"/>
          <p:cNvSpPr/>
          <p:nvPr/>
        </p:nvSpPr>
        <p:spPr>
          <a:xfrm>
            <a:off x="868680" y="5166360"/>
            <a:ext cx="10424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96696" y="5276088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the board should require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96696" y="5596128"/>
            <a:ext cx="10168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 / import allowlist • blocked file / process / reflection access • outbound network restrictions • runtime timeouts and memory limits • version / rollback • per-tenant policy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topology and isolation choices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051560"/>
            <a:ext cx="813816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/mnt/data/smartsandbox_ppt/assets/deployment_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803" y="1161288"/>
            <a:ext cx="6379290" cy="3813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6384" y="5020056"/>
            <a:ext cx="7882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Portal, control plane, sandbox cluster, and production separation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06840" y="1207008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34856" y="13167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Default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34856" y="1636776"/>
            <a:ext cx="221284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Sandbox account / cluster separated from production. Namespace-per-sandbox. Schema-per-sandbox database to start.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06840" y="2770632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34856" y="28803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34856" y="3200400"/>
            <a:ext cx="221284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runtime class or micro-VM for approved high-risk programmable tenants.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006840" y="4041648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34856" y="41513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34856" y="4471416"/>
            <a:ext cx="22128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routes or secret sharing with production VPCs and databases.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5468112"/>
            <a:ext cx="1042416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96696" y="5577840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 decision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96696" y="5897880"/>
            <a:ext cx="1016812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whether namespace isolation is sufficient for phase 1 and which tenant classes, if any, must require stronger runtime isolation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landscape and positioning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synthesis from official docs reviewed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078992"/>
            <a:ext cx="109728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170432"/>
            <a:ext cx="10643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89888" y="1490472"/>
            <a:ext cx="0" cy="333756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89888" y="1490472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490472"/>
            <a:ext cx="0" cy="333756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89888" y="2324862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490472"/>
            <a:ext cx="0" cy="333756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9888" y="3159252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6528" y="1490472"/>
            <a:ext cx="0" cy="333756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3993642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65408" y="1490472"/>
            <a:ext cx="0" cy="333756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4828032"/>
            <a:ext cx="98755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9888" y="4828032"/>
            <a:ext cx="9875520" cy="0"/>
          </a:xfrm>
          <a:prstGeom prst="line">
            <a:avLst/>
          </a:prstGeom>
          <a:noFill/>
          <a:ln w="19050">
            <a:solidFill>
              <a:srgbClr val="243B5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389888" y="4828032"/>
            <a:ext cx="0" cy="-3337560"/>
          </a:xfrm>
          <a:prstGeom prst="line">
            <a:avLst/>
          </a:prstGeom>
          <a:noFill/>
          <a:ln w="19050">
            <a:solidFill>
              <a:srgbClr val="243B5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01768" y="49011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Ease / speed of adoption →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44168" y="1417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fidelity / control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98448" y="4901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064240" y="49011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725558" y="350603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2134" y="354261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40573" y="365622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7149" y="369280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13902" y="320565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0478" y="3242234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Apidog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41210" y="3088843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7786" y="3125419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3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MuleSoft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44945" y="252145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81521" y="2558034"/>
            <a:ext cx="1069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Microcks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6777" y="218770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3353" y="222427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WireMock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0211" y="1954073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6787" y="1990649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ReadyAPI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11442" y="1620317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8018" y="1656893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2960" y="5074920"/>
            <a:ext cx="10643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synthesis based on official documentation; not a quantitative benchmark.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68680" y="5440680"/>
            <a:ext cx="10424160" cy="786384"/>
          </a:xfrm>
          <a:prstGeom prst="roundRect">
            <a:avLst>
              <a:gd name="adj" fmla="val 6977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96696" y="5550408"/>
            <a:ext cx="10168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Architectural takeaway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96696" y="5870448"/>
            <a:ext cx="101681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we market this as “mocking”, several tools will look simpler. If we market it as “isolated partner sandboxing with business-journey simulation”, the differentiation is materially stronger.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market comparison: build vs products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 / cons synthesis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051560"/>
            <a:ext cx="10972800" cy="40416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088136"/>
            <a:ext cx="17830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27101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78024" y="1088136"/>
            <a:ext cx="15011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197864"/>
            <a:ext cx="1427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9164" y="1088136"/>
            <a:ext cx="15011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5740" y="1197864"/>
            <a:ext cx="1427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Stateful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0304" y="1088136"/>
            <a:ext cx="15011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16880" y="1197864"/>
            <a:ext cx="1427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Callbacks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1444" y="1088136"/>
            <a:ext cx="15011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8020" y="1197864"/>
            <a:ext cx="1427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virtualization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82584" y="1088136"/>
            <a:ext cx="15011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9160" y="1197864"/>
            <a:ext cx="1427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tenant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83724" y="1088136"/>
            <a:ext cx="150114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20300" y="1197864"/>
            <a:ext cx="14279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journey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" y="1709928"/>
            <a:ext cx="178308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1837944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SmartSandbox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478024" y="1709928"/>
            <a:ext cx="150114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78024" y="178308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979164" y="1709928"/>
            <a:ext cx="150114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9164" y="178308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80304" y="1709928"/>
            <a:ext cx="150114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0304" y="178308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981444" y="1709928"/>
            <a:ext cx="150114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1444" y="178308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482584" y="1709928"/>
            <a:ext cx="150114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2584" y="178308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983724" y="1709928"/>
            <a:ext cx="1501140" cy="406908"/>
          </a:xfrm>
          <a:prstGeom prst="rect">
            <a:avLst/>
          </a:prstGeom>
          <a:solidFill>
            <a:srgbClr val="ECFDF5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83724" y="178308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94944" y="2116836"/>
            <a:ext cx="1783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2244852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WireMock Cloud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478024" y="2116836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78024" y="218998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3979164" y="2116836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79164" y="218998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5480304" y="2116836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0304" y="218998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6981444" y="2116836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1444" y="218998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◐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8482584" y="2116836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2584" y="218998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9983724" y="2116836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83724" y="218998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694944" y="2523744"/>
            <a:ext cx="178308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2651760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Microcks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478024" y="2523744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78024" y="259689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3979164" y="2523744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9164" y="259689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5480304" y="2523744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0304" y="259689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6981444" y="2523744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81444" y="259689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◐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8482584" y="2523744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82584" y="259689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65" name="Shape 63"/>
          <p:cNvSpPr/>
          <p:nvPr/>
        </p:nvSpPr>
        <p:spPr>
          <a:xfrm>
            <a:off x="9983724" y="2523744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3724" y="259689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694944" y="2930652"/>
            <a:ext cx="1783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9808" y="3058668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Postman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2478024" y="2930652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478024" y="3003804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71" name="Shape 69"/>
          <p:cNvSpPr/>
          <p:nvPr/>
        </p:nvSpPr>
        <p:spPr>
          <a:xfrm>
            <a:off x="3979164" y="2930652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79164" y="3003804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◐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5480304" y="2930652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0304" y="3003804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75" name="Shape 73"/>
          <p:cNvSpPr/>
          <p:nvPr/>
        </p:nvSpPr>
        <p:spPr>
          <a:xfrm>
            <a:off x="6981444" y="2930652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81444" y="3003804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77" name="Shape 75"/>
          <p:cNvSpPr/>
          <p:nvPr/>
        </p:nvSpPr>
        <p:spPr>
          <a:xfrm>
            <a:off x="8482584" y="2930652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82584" y="3003804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79" name="Shape 77"/>
          <p:cNvSpPr/>
          <p:nvPr/>
        </p:nvSpPr>
        <p:spPr>
          <a:xfrm>
            <a:off x="9983724" y="2930652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83724" y="3003804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81" name="Shape 79"/>
          <p:cNvSpPr/>
          <p:nvPr/>
        </p:nvSpPr>
        <p:spPr>
          <a:xfrm>
            <a:off x="694944" y="3337560"/>
            <a:ext cx="178308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9808" y="3465576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</a:t>
            </a:r>
            <a:endParaRPr lang="en-US" sz="1250" dirty="0"/>
          </a:p>
        </p:txBody>
      </p:sp>
      <p:sp>
        <p:nvSpPr>
          <p:cNvPr id="83" name="Shape 81"/>
          <p:cNvSpPr/>
          <p:nvPr/>
        </p:nvSpPr>
        <p:spPr>
          <a:xfrm>
            <a:off x="2478024" y="3337560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478024" y="3410712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85" name="Shape 83"/>
          <p:cNvSpPr/>
          <p:nvPr/>
        </p:nvSpPr>
        <p:spPr>
          <a:xfrm>
            <a:off x="3979164" y="3337560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79164" y="3410712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87" name="Shape 85"/>
          <p:cNvSpPr/>
          <p:nvPr/>
        </p:nvSpPr>
        <p:spPr>
          <a:xfrm>
            <a:off x="5480304" y="3337560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0304" y="3410712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89" name="Shape 87"/>
          <p:cNvSpPr/>
          <p:nvPr/>
        </p:nvSpPr>
        <p:spPr>
          <a:xfrm>
            <a:off x="6981444" y="3337560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981444" y="3410712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91" name="Shape 89"/>
          <p:cNvSpPr/>
          <p:nvPr/>
        </p:nvSpPr>
        <p:spPr>
          <a:xfrm>
            <a:off x="8482584" y="3337560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482584" y="3410712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93" name="Shape 91"/>
          <p:cNvSpPr/>
          <p:nvPr/>
        </p:nvSpPr>
        <p:spPr>
          <a:xfrm>
            <a:off x="9983724" y="3337560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983724" y="3410712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95" name="Shape 93"/>
          <p:cNvSpPr/>
          <p:nvPr/>
        </p:nvSpPr>
        <p:spPr>
          <a:xfrm>
            <a:off x="694944" y="3744468"/>
            <a:ext cx="1783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9808" y="3872484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Apidog</a:t>
            </a:r>
            <a:endParaRPr lang="en-US" sz="1250" dirty="0"/>
          </a:p>
        </p:txBody>
      </p:sp>
      <p:sp>
        <p:nvSpPr>
          <p:cNvPr id="97" name="Shape 95"/>
          <p:cNvSpPr/>
          <p:nvPr/>
        </p:nvSpPr>
        <p:spPr>
          <a:xfrm>
            <a:off x="2478024" y="3744468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78024" y="381762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99" name="Shape 97"/>
          <p:cNvSpPr/>
          <p:nvPr/>
        </p:nvSpPr>
        <p:spPr>
          <a:xfrm>
            <a:off x="3979164" y="3744468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79164" y="381762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◐</a:t>
            </a:r>
            <a:endParaRPr lang="en-US" sz="2000" dirty="0"/>
          </a:p>
        </p:txBody>
      </p:sp>
      <p:sp>
        <p:nvSpPr>
          <p:cNvPr id="101" name="Shape 99"/>
          <p:cNvSpPr/>
          <p:nvPr/>
        </p:nvSpPr>
        <p:spPr>
          <a:xfrm>
            <a:off x="5480304" y="3744468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80304" y="381762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03" name="Shape 101"/>
          <p:cNvSpPr/>
          <p:nvPr/>
        </p:nvSpPr>
        <p:spPr>
          <a:xfrm>
            <a:off x="6981444" y="3744468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81444" y="381762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05" name="Shape 103"/>
          <p:cNvSpPr/>
          <p:nvPr/>
        </p:nvSpPr>
        <p:spPr>
          <a:xfrm>
            <a:off x="8482584" y="3744468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482584" y="381762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07" name="Shape 105"/>
          <p:cNvSpPr/>
          <p:nvPr/>
        </p:nvSpPr>
        <p:spPr>
          <a:xfrm>
            <a:off x="9983724" y="3744468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983724" y="3817620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09" name="Shape 107"/>
          <p:cNvSpPr/>
          <p:nvPr/>
        </p:nvSpPr>
        <p:spPr>
          <a:xfrm>
            <a:off x="694944" y="4151376"/>
            <a:ext cx="178308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9808" y="4279392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MuleSoft</a:t>
            </a:r>
            <a:endParaRPr lang="en-US" sz="1250" dirty="0"/>
          </a:p>
        </p:txBody>
      </p:sp>
      <p:sp>
        <p:nvSpPr>
          <p:cNvPr id="111" name="Shape 109"/>
          <p:cNvSpPr/>
          <p:nvPr/>
        </p:nvSpPr>
        <p:spPr>
          <a:xfrm>
            <a:off x="2478024" y="4151376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478024" y="422452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◐</a:t>
            </a:r>
            <a:endParaRPr lang="en-US" sz="2000" dirty="0"/>
          </a:p>
        </p:txBody>
      </p:sp>
      <p:sp>
        <p:nvSpPr>
          <p:cNvPr id="113" name="Shape 111"/>
          <p:cNvSpPr/>
          <p:nvPr/>
        </p:nvSpPr>
        <p:spPr>
          <a:xfrm>
            <a:off x="3979164" y="4151376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79164" y="422452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15" name="Shape 113"/>
          <p:cNvSpPr/>
          <p:nvPr/>
        </p:nvSpPr>
        <p:spPr>
          <a:xfrm>
            <a:off x="5480304" y="4151376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480304" y="422452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17" name="Shape 115"/>
          <p:cNvSpPr/>
          <p:nvPr/>
        </p:nvSpPr>
        <p:spPr>
          <a:xfrm>
            <a:off x="6981444" y="4151376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981444" y="422452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19" name="Shape 117"/>
          <p:cNvSpPr/>
          <p:nvPr/>
        </p:nvSpPr>
        <p:spPr>
          <a:xfrm>
            <a:off x="8482584" y="4151376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482584" y="422452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21" name="Shape 119"/>
          <p:cNvSpPr/>
          <p:nvPr/>
        </p:nvSpPr>
        <p:spPr>
          <a:xfrm>
            <a:off x="9983724" y="4151376"/>
            <a:ext cx="1501140" cy="406908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983724" y="4224528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23" name="Shape 121"/>
          <p:cNvSpPr/>
          <p:nvPr/>
        </p:nvSpPr>
        <p:spPr>
          <a:xfrm>
            <a:off x="694944" y="4558284"/>
            <a:ext cx="1783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9808" y="4686300"/>
            <a:ext cx="1636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ReadyAPI</a:t>
            </a:r>
            <a:endParaRPr lang="en-US" sz="1250" dirty="0"/>
          </a:p>
        </p:txBody>
      </p:sp>
      <p:sp>
        <p:nvSpPr>
          <p:cNvPr id="125" name="Shape 123"/>
          <p:cNvSpPr/>
          <p:nvPr/>
        </p:nvSpPr>
        <p:spPr>
          <a:xfrm>
            <a:off x="2478024" y="4558284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478024" y="463143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27" name="Shape 125"/>
          <p:cNvSpPr/>
          <p:nvPr/>
        </p:nvSpPr>
        <p:spPr>
          <a:xfrm>
            <a:off x="3979164" y="4558284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79164" y="463143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◐</a:t>
            </a:r>
            <a:endParaRPr lang="en-US" sz="2000" dirty="0"/>
          </a:p>
        </p:txBody>
      </p:sp>
      <p:sp>
        <p:nvSpPr>
          <p:cNvPr id="129" name="Shape 127"/>
          <p:cNvSpPr/>
          <p:nvPr/>
        </p:nvSpPr>
        <p:spPr>
          <a:xfrm>
            <a:off x="5480304" y="4558284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480304" y="463143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31" name="Shape 129"/>
          <p:cNvSpPr/>
          <p:nvPr/>
        </p:nvSpPr>
        <p:spPr>
          <a:xfrm>
            <a:off x="6981444" y="4558284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981444" y="463143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●</a:t>
            </a:r>
            <a:endParaRPr lang="en-US" sz="2000" dirty="0"/>
          </a:p>
        </p:txBody>
      </p:sp>
      <p:sp>
        <p:nvSpPr>
          <p:cNvPr id="133" name="Shape 131"/>
          <p:cNvSpPr/>
          <p:nvPr/>
        </p:nvSpPr>
        <p:spPr>
          <a:xfrm>
            <a:off x="8482584" y="4558284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482584" y="463143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35" name="Shape 133"/>
          <p:cNvSpPr/>
          <p:nvPr/>
        </p:nvSpPr>
        <p:spPr>
          <a:xfrm>
            <a:off x="9983724" y="4558284"/>
            <a:ext cx="150114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983724" y="4631436"/>
            <a:ext cx="15011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○</a:t>
            </a:r>
            <a:endParaRPr lang="en-US" sz="2000" dirty="0"/>
          </a:p>
        </p:txBody>
      </p:sp>
      <p:sp>
        <p:nvSpPr>
          <p:cNvPr id="137" name="Text 135"/>
          <p:cNvSpPr/>
          <p:nvPr/>
        </p:nvSpPr>
        <p:spPr>
          <a:xfrm>
            <a:off x="749808" y="5010912"/>
            <a:ext cx="10789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Legend: ● strong emphasis in reviewed docs   ◐ partial / adjacent capability   ○ light or not central in reviewed docs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868680" y="5376672"/>
            <a:ext cx="5166360" cy="87782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39" name="Text 137"/>
          <p:cNvSpPr/>
          <p:nvPr/>
        </p:nvSpPr>
        <p:spPr>
          <a:xfrm>
            <a:off x="996696" y="5486400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Pros of building SmartSandbox</a:t>
            </a:r>
            <a:endParaRPr lang="en-US" sz="1600" dirty="0"/>
          </a:p>
        </p:txBody>
      </p:sp>
      <p:sp>
        <p:nvSpPr>
          <p:cNvPr id="140" name="Text 138"/>
          <p:cNvSpPr/>
          <p:nvPr/>
        </p:nvSpPr>
        <p:spPr>
          <a:xfrm>
            <a:off x="996696" y="5760720"/>
            <a:ext cx="491032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/>
            <a:r>
              <a:rPr sz="1100">
                <a:solidFill>
                  <a:srgbClr val="55677A"/>
                </a:solidFill>
              </a:rPr>
              <a:t>Portal-native partner onboarding</a:t>
            </a:r>
          </a:p>
          <a:p>
            <a:pPr/>
            <a:r>
              <a:rPr sz="1100">
                <a:solidFill>
                  <a:srgbClr val="55677A"/>
                </a:solidFill>
              </a:rPr>
              <a:t>Per-sandbox isolation and policy control</a:t>
            </a:r>
          </a:p>
          <a:p>
            <a:pPr/>
            <a:r>
              <a:rPr sz="1100">
                <a:solidFill>
                  <a:srgbClr val="55677A"/>
                </a:solidFill>
              </a:rPr>
              <a:t>Extend SmartMock into business-journey simulation</a:t>
            </a:r>
          </a:p>
        </p:txBody>
      </p:sp>
      <p:sp>
        <p:nvSpPr>
          <p:cNvPr id="141" name="Shape 139"/>
          <p:cNvSpPr/>
          <p:nvPr/>
        </p:nvSpPr>
        <p:spPr>
          <a:xfrm>
            <a:off x="6263640" y="5376672"/>
            <a:ext cx="4983480" cy="877824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6391656" y="5486400"/>
            <a:ext cx="4727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 / risks of building SmartSandbox</a:t>
            </a:r>
            <a:endParaRPr lang="en-US" sz="1600" dirty="0"/>
          </a:p>
        </p:txBody>
      </p:sp>
      <p:sp>
        <p:nvSpPr>
          <p:cNvPr id="143" name="Text 141"/>
          <p:cNvSpPr/>
          <p:nvPr/>
        </p:nvSpPr>
        <p:spPr>
          <a:xfrm>
            <a:off x="6391656" y="5760720"/>
            <a:ext cx="472744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/>
            <a:r>
              <a:rPr sz="1100">
                <a:solidFill>
                  <a:srgbClr val="55677A"/>
                </a:solidFill>
              </a:rPr>
              <a:t>Heavier platform operations</a:t>
            </a:r>
          </a:p>
          <a:p>
            <a:pPr/>
            <a:r>
              <a:rPr sz="1100">
                <a:solidFill>
                  <a:srgbClr val="55677A"/>
                </a:solidFill>
              </a:rPr>
              <a:t>Security hardening required for programmable tenants</a:t>
            </a:r>
          </a:p>
          <a:p>
            <a:pPr/>
            <a:r>
              <a:rPr sz="1100">
                <a:solidFill>
                  <a:srgbClr val="55677A"/>
                </a:solidFill>
              </a:rPr>
              <a:t>Longer path to feature breadth than a lighter mock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73152" cy="438912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Roadmap, open decisions, and board asks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8638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gates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932688"/>
            <a:ext cx="10948416" cy="0"/>
          </a:xfrm>
          <a:prstGeom prst="line">
            <a:avLst/>
          </a:prstGeom>
          <a:noFill/>
          <a:ln w="12700">
            <a:solidFill>
              <a:srgbClr val="BCC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560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0F4F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0" y="3017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 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018520" y="647395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4739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SmartSandbox proposal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05940" y="1490472"/>
            <a:ext cx="8677656" cy="0"/>
          </a:xfrm>
          <a:prstGeom prst="line">
            <a:avLst/>
          </a:prstGeom>
          <a:noFill/>
          <a:ln w="25400">
            <a:solidFill>
              <a:srgbClr val="BCCCD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59636" y="13441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737360"/>
            <a:ext cx="1965960" cy="2240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186537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21122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2340864"/>
            <a:ext cx="1819656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Per-sandbox packaging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 context + audit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Authoring controls</a:t>
            </a:r>
            <a:endParaRPr lang="en-US" sz="1227" dirty="0"/>
          </a:p>
        </p:txBody>
      </p:sp>
      <p:sp>
        <p:nvSpPr>
          <p:cNvPr id="16" name="Shape 14"/>
          <p:cNvSpPr/>
          <p:nvPr/>
        </p:nvSpPr>
        <p:spPr>
          <a:xfrm>
            <a:off x="4552188" y="1344168"/>
            <a:ext cx="292608" cy="292608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5512" y="1737360"/>
            <a:ext cx="1965960" cy="2240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25240" y="186537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88664" y="21122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sandbox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88664" y="2340864"/>
            <a:ext cx="1819656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/ seed / expire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Namespace isolation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 + replay + webhook ops</a:t>
            </a:r>
            <a:endParaRPr lang="en-US" sz="1227" dirty="0"/>
          </a:p>
        </p:txBody>
      </p:sp>
      <p:sp>
        <p:nvSpPr>
          <p:cNvPr id="21" name="Shape 19"/>
          <p:cNvSpPr/>
          <p:nvPr/>
        </p:nvSpPr>
        <p:spPr>
          <a:xfrm>
            <a:off x="7444740" y="134416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8064" y="1737360"/>
            <a:ext cx="1965960" cy="2240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17792" y="186537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81216" y="21122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fidelity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81216" y="2340864"/>
            <a:ext cx="1819656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Imported 3rd-party OpenAPI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Dependency virtualization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Scenario expansion</a:t>
            </a:r>
            <a:endParaRPr lang="en-US" sz="1227" dirty="0"/>
          </a:p>
        </p:txBody>
      </p:sp>
      <p:sp>
        <p:nvSpPr>
          <p:cNvPr id="26" name="Shape 24"/>
          <p:cNvSpPr/>
          <p:nvPr/>
        </p:nvSpPr>
        <p:spPr>
          <a:xfrm>
            <a:off x="10337292" y="13441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0616" y="1737360"/>
            <a:ext cx="1965960" cy="22402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10344" y="1865376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73768" y="21122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73768" y="2340864"/>
            <a:ext cx="1819656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Record-replay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travel</a:t>
            </a:r>
            <a:endParaRPr lang="en-US" sz="1227" dirty="0"/>
          </a:p>
          <a:p>
            <a:pPr indent="0" marL="0">
              <a:buNone/>
            </a:pPr>
            <a:r>
              <a:rPr lang="en-US" sz="1227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Premium isolation tier</a:t>
            </a:r>
            <a:endParaRPr lang="en-US" sz="1227" dirty="0"/>
          </a:p>
        </p:txBody>
      </p:sp>
      <p:sp>
        <p:nvSpPr>
          <p:cNvPr id="31" name="Shape 29"/>
          <p:cNvSpPr/>
          <p:nvPr/>
        </p:nvSpPr>
        <p:spPr>
          <a:xfrm>
            <a:off x="868680" y="452628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96696" y="463600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decisions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696" y="4956048"/>
            <a:ext cx="48188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Groovy exposure policy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Schema-per-sandbox vs instance-per-sandbox thresholds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classes needing stronger isolation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phase-1 scope and commercial pilot cohort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526280"/>
            <a:ext cx="5074920" cy="1417320"/>
          </a:xfrm>
          <a:prstGeom prst="roundRect">
            <a:avLst>
              <a:gd name="adj" fmla="val 387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5240" dist="762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45936" y="4636008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Board asks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45936" y="4956048"/>
            <a:ext cx="4818888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target boundary and phase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default isolation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policy-gated advanced authoring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 Phase 0 / Phase 1 planning baseline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Strategic Evolution: Developer Portal + SmartMock +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HSBC Developer Portal already covers API discovery and partner onboarding.</a:t>
            </a:r>
          </a:p>
          <a:p>
            <a:pPr>
              <a:defRPr sz="1600"/>
            </a:pPr>
            <a:r>
              <a:t>• SmartMock provides reusable Open Banking simulation runtime capability.</a:t>
            </a:r>
          </a:p>
          <a:p>
            <a:pPr>
              <a:defRPr sz="1600"/>
            </a:pPr>
            <a:r>
              <a:t>• SmartSandbox adds lifecycle management, isolation, scenarios, dynamic data and governance.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Target Architecture: SmartMock evolves into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Control Plane manages sandbox lifecycle.</a:t>
            </a:r>
          </a:p>
          <a:p>
            <a:pPr>
              <a:defRPr sz="1600"/>
            </a:pPr>
            <a:r>
              <a:t>• SmartMock remains the execution engine.</a:t>
            </a:r>
          </a:p>
          <a:p>
            <a:pPr>
              <a:defRPr sz="1600"/>
            </a:pPr>
            <a:r>
              <a:t>• Journey simulation enables consent, payment and event testing.</a:t>
            </a:r>
          </a:p>
        </p:txBody>
      </p:sp>
      <p:pic>
        <p:nvPicPr>
          <p:cNvPr id="4" name="Picture 3" descr="SmartSandbox_Evolu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572000" cy="27758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Major Comparison: DAC / DigitalAPI vs HSBC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DAC provides a mature Open Banking sandbox.</a:t>
            </a:r>
          </a:p>
          <a:p>
            <a:pPr>
              <a:defRPr sz="1600"/>
            </a:pPr>
            <a:r>
              <a:t>• HSBC advantage is existing portal ownership and SmartMock extensibility.</a:t>
            </a:r>
          </a:p>
          <a:p>
            <a:pPr>
              <a:defRPr sz="1600"/>
            </a:pPr>
            <a:r>
              <a:t>• Differentiation: end-to-end business journey simulation.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HSBC SmartSandbox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HSBC owned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HKMA 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Supported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Proven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Custom journey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Dynamic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Configurable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State simulation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Custom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SmartMock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HSBC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Long Term Roadmap: SmartMock -&gt; SmartSandbox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Phase 0: SmartMock hardening.</a:t>
            </a:r>
          </a:p>
          <a:p>
            <a:pPr>
              <a:defRPr sz="1600"/>
            </a:pPr>
            <a:r>
              <a:t>• Phase 1: Sandbox platform MVP.</a:t>
            </a:r>
          </a:p>
          <a:p>
            <a:pPr>
              <a:defRPr sz="1600"/>
            </a:pPr>
            <a:r>
              <a:t>• Phase 2: Advanced simulation.</a:t>
            </a:r>
          </a:p>
          <a:p>
            <a:pPr>
              <a:defRPr sz="1600"/>
            </a:pPr>
            <a:r>
              <a:t>• Phase 3: AI intelligent sandbox.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SmartSandbox Proposal — Architect Board Review</dc:title>
  <dc:subject>SmartSandbox Proposal — Architect Board Review</dc:subject>
  <dc:creator>OpenAI</dc:creator>
  <cp:lastModifiedBy>OpenAI</cp:lastModifiedBy>
  <cp:revision>1</cp:revision>
  <dcterms:created xsi:type="dcterms:W3CDTF">2026-03-24T03:34:29Z</dcterms:created>
  <dcterms:modified xsi:type="dcterms:W3CDTF">2026-03-24T03:34:29Z</dcterms:modified>
</cp:coreProperties>
</file>